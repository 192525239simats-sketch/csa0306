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 Sys 16" userId="3c5214d21c33af56" providerId="LiveId" clId="{72A66DBE-0266-48F6-AB8E-065967316109}"/>
    <pc:docChg chg="modSld">
      <pc:chgData name="AK Sys 16" userId="3c5214d21c33af56" providerId="LiveId" clId="{72A66DBE-0266-48F6-AB8E-065967316109}" dt="2026-07-22T11:56:06.101" v="1" actId="20577"/>
      <pc:docMkLst>
        <pc:docMk/>
      </pc:docMkLst>
      <pc:sldChg chg="modSp mod">
        <pc:chgData name="AK Sys 16" userId="3c5214d21c33af56" providerId="LiveId" clId="{72A66DBE-0266-48F6-AB8E-065967316109}" dt="2026-07-22T11:56:06.101" v="1" actId="20577"/>
        <pc:sldMkLst>
          <pc:docMk/>
          <pc:sldMk cId="0" sldId="256"/>
        </pc:sldMkLst>
        <pc:spChg chg="mod">
          <ac:chgData name="AK Sys 16" userId="3c5214d21c33af56" providerId="LiveId" clId="{72A66DBE-0266-48F6-AB8E-065967316109}" dt="2026-07-22T11:56:06.101" v="1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474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Metro Rail Network Maps Stations And Routes To Determine Reachable Stations From A Source Station. </a:t>
            </a:r>
          </a:p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Technical Presentation</a:t>
            </a:r>
            <a:endParaRPr lang="en-US" sz="3000" dirty="0"/>
          </a:p>
        </p:txBody>
      </p:sp>
      <p:pic>
        <p:nvPicPr>
          <p:cNvPr id="6" name="Picture 5" descr="Saveetha University">
            <a:extLst>
              <a:ext uri="{FF2B5EF4-FFF2-40B4-BE49-F238E27FC236}">
                <a16:creationId xmlns:a16="http://schemas.microsoft.com/office/drawing/2014/main" id="{596FE1E4-2775-6802-0C5B-8B0974457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0" y="306276"/>
            <a:ext cx="4062270" cy="831193"/>
          </a:xfrm>
          <a:prstGeom prst="rect">
            <a:avLst/>
          </a:prstGeom>
        </p:spPr>
      </p:pic>
      <p:pic>
        <p:nvPicPr>
          <p:cNvPr id="8" name="Picture 7" descr="Admissions — SIMATS">
            <a:extLst>
              <a:ext uri="{FF2B5EF4-FFF2-40B4-BE49-F238E27FC236}">
                <a16:creationId xmlns:a16="http://schemas.microsoft.com/office/drawing/2014/main" id="{D36D62B9-D40B-E0B4-9DE2-CCDF8DD8B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264" y="306276"/>
            <a:ext cx="4062270" cy="9941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B7CD0C-F341-712C-2041-01F0341A91C6}"/>
              </a:ext>
            </a:extLst>
          </p:cNvPr>
          <p:cNvSpPr txBox="1"/>
          <p:nvPr/>
        </p:nvSpPr>
        <p:spPr>
          <a:xfrm>
            <a:off x="2279904" y="3379662"/>
            <a:ext cx="3962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CSA0306-DATA STRUCTURES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39959E-2E68-C1C7-CE3C-225F35BCB7FC}"/>
              </a:ext>
            </a:extLst>
          </p:cNvPr>
          <p:cNvSpPr txBox="1"/>
          <p:nvPr/>
        </p:nvSpPr>
        <p:spPr>
          <a:xfrm>
            <a:off x="664464" y="4292769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50" b="1" dirty="0"/>
              <a:t>Guided by :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Roselyn Shakila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BE3A93-1E33-BED4-4B16-222FC8EBE40D}"/>
              </a:ext>
            </a:extLst>
          </p:cNvPr>
          <p:cNvSpPr txBox="1"/>
          <p:nvPr/>
        </p:nvSpPr>
        <p:spPr>
          <a:xfrm>
            <a:off x="4776264" y="4338935"/>
            <a:ext cx="457200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50" b="1" dirty="0"/>
              <a:t>Name of the student :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Anil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Reddyreddy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(192525239)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Metro Rail Network Maps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Metro rail network maps visually represent stations and routes within a city's transit system.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help commuters and planners understand connectivity and travel options.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maps are essential for efficient navigation and route planning.</a:t>
            </a:r>
            <a:endParaRPr lang="en-US" sz="1600" dirty="0"/>
          </a:p>
        </p:txBody>
      </p:sp>
      <p:pic>
        <p:nvPicPr>
          <p:cNvPr id="5" name="Picture 4" descr="Saveetha University">
            <a:extLst>
              <a:ext uri="{FF2B5EF4-FFF2-40B4-BE49-F238E27FC236}">
                <a16:creationId xmlns:a16="http://schemas.microsoft.com/office/drawing/2014/main" id="{46DED5DE-1FAE-23CD-5DC2-B0706A138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0" y="73839"/>
            <a:ext cx="4062270" cy="831193"/>
          </a:xfrm>
          <a:prstGeom prst="rect">
            <a:avLst/>
          </a:prstGeom>
        </p:spPr>
      </p:pic>
      <p:pic>
        <p:nvPicPr>
          <p:cNvPr id="7" name="Picture 6" descr="Admissions — SIMATS">
            <a:extLst>
              <a:ext uri="{FF2B5EF4-FFF2-40B4-BE49-F238E27FC236}">
                <a16:creationId xmlns:a16="http://schemas.microsoft.com/office/drawing/2014/main" id="{CA6A7F5E-E73F-21CA-89F3-621DFBA13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752" y="57388"/>
            <a:ext cx="4062270" cy="994172"/>
          </a:xfrm>
          <a:prstGeom prst="rect">
            <a:avLst/>
          </a:prstGeom>
        </p:spPr>
      </p:pic>
      <p:pic>
        <p:nvPicPr>
          <p:cNvPr id="8" name="Picture 7" descr="Metro Maps of Top Cities in India 2026 - Plus New &amp; Upcoming ...">
            <a:extLst>
              <a:ext uri="{FF2B5EF4-FFF2-40B4-BE49-F238E27FC236}">
                <a16:creationId xmlns:a16="http://schemas.microsoft.com/office/drawing/2014/main" id="{F745A2C9-5004-73B6-2E4C-A88CDD8016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2790" y="1755648"/>
            <a:ext cx="3761232" cy="27188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Components of a Metro 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Stations are marked as nodes, often with names or symbols.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Routes are depicted as lines connecting the stations.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Additional information such as transfer points and line colors enhance readability.</a:t>
            </a:r>
            <a:endParaRPr lang="en-US" sz="1600" dirty="0"/>
          </a:p>
        </p:txBody>
      </p:sp>
      <p:pic>
        <p:nvPicPr>
          <p:cNvPr id="5" name="Picture 4" descr="Saveetha University">
            <a:extLst>
              <a:ext uri="{FF2B5EF4-FFF2-40B4-BE49-F238E27FC236}">
                <a16:creationId xmlns:a16="http://schemas.microsoft.com/office/drawing/2014/main" id="{1CF9B20A-217C-73C0-A518-333AB72A3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0" y="228600"/>
            <a:ext cx="4062270" cy="734568"/>
          </a:xfrm>
          <a:prstGeom prst="rect">
            <a:avLst/>
          </a:prstGeom>
        </p:spPr>
      </p:pic>
      <p:pic>
        <p:nvPicPr>
          <p:cNvPr id="7" name="Picture 6" descr="Admissions — SIMATS">
            <a:extLst>
              <a:ext uri="{FF2B5EF4-FFF2-40B4-BE49-F238E27FC236}">
                <a16:creationId xmlns:a16="http://schemas.microsoft.com/office/drawing/2014/main" id="{B3C26496-8065-AAE2-44A4-33424A241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184697"/>
            <a:ext cx="4062270" cy="778471"/>
          </a:xfrm>
          <a:prstGeom prst="rect">
            <a:avLst/>
          </a:prstGeom>
        </p:spPr>
      </p:pic>
      <p:pic>
        <p:nvPicPr>
          <p:cNvPr id="8" name="Picture 7" descr="Identification of Critical Track Sections in a Railway ...">
            <a:extLst>
              <a:ext uri="{FF2B5EF4-FFF2-40B4-BE49-F238E27FC236}">
                <a16:creationId xmlns:a16="http://schemas.microsoft.com/office/drawing/2014/main" id="{5D8154F5-8190-BB6D-10B8-59DD5C199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530494"/>
            <a:ext cx="3611085" cy="29043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Types of Metro Maps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Geographical maps show real-world distances and directions.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Diagrammatic maps simplify routes for clarity, often exaggerating distances for better understanding.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Both types serve different purposes depending on user needs.</a:t>
            </a:r>
            <a:endParaRPr lang="en-US" sz="1600" dirty="0"/>
          </a:p>
        </p:txBody>
      </p:sp>
      <p:pic>
        <p:nvPicPr>
          <p:cNvPr id="5" name="Picture 4" descr="Saveetha University">
            <a:extLst>
              <a:ext uri="{FF2B5EF4-FFF2-40B4-BE49-F238E27FC236}">
                <a16:creationId xmlns:a16="http://schemas.microsoft.com/office/drawing/2014/main" id="{925BFE3F-DCF8-A452-22CF-3A546D906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0" y="306276"/>
            <a:ext cx="4062270" cy="831193"/>
          </a:xfrm>
          <a:prstGeom prst="rect">
            <a:avLst/>
          </a:prstGeom>
        </p:spPr>
      </p:pic>
      <p:pic>
        <p:nvPicPr>
          <p:cNvPr id="7" name="Picture 6" descr="Admissions — SIMATS">
            <a:extLst>
              <a:ext uri="{FF2B5EF4-FFF2-40B4-BE49-F238E27FC236}">
                <a16:creationId xmlns:a16="http://schemas.microsoft.com/office/drawing/2014/main" id="{43593CB2-912F-D932-1379-768ED7737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Determining Reachable Stations from a Source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Reachability is determined based on the connectivity of stations within the network.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Algorithms like Breadth-First Search (BFS) can be used to find all stations reachable from a source station.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route data helps in calculating the shortest or fastest path to target stations.</a:t>
            </a:r>
            <a:endParaRPr lang="en-US" sz="1600" dirty="0"/>
          </a:p>
        </p:txBody>
      </p:sp>
      <p:pic>
        <p:nvPicPr>
          <p:cNvPr id="5" name="Picture 4" descr="Admissions — SIMATS">
            <a:extLst>
              <a:ext uri="{FF2B5EF4-FFF2-40B4-BE49-F238E27FC236}">
                <a16:creationId xmlns:a16="http://schemas.microsoft.com/office/drawing/2014/main" id="{6A4E6912-4CA3-3D73-43D2-CEDF9033A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1" y="57388"/>
            <a:ext cx="4062270" cy="994172"/>
          </a:xfrm>
          <a:prstGeom prst="rect">
            <a:avLst/>
          </a:prstGeom>
        </p:spPr>
      </p:pic>
      <p:pic>
        <p:nvPicPr>
          <p:cNvPr id="7" name="Picture 6" descr="Saveetha University">
            <a:extLst>
              <a:ext uri="{FF2B5EF4-FFF2-40B4-BE49-F238E27FC236}">
                <a16:creationId xmlns:a16="http://schemas.microsoft.com/office/drawing/2014/main" id="{877223EA-1454-94E1-C68F-4AF81A80C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1" y="3048"/>
            <a:ext cx="4062270" cy="9527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Route Planning and Shortest Path Algorithms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Graph theory models the metro network as nodes and edges for computational analysis.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Algorithms such as Dijkstra's or A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are used to find the shortest paths considering distances or travel times.</a:t>
            </a:r>
            <a:endParaRPr lang="en-US" sz="1600" dirty="0"/>
          </a:p>
        </p:txBody>
      </p:sp>
      <p:pic>
        <p:nvPicPr>
          <p:cNvPr id="5" name="Picture 4" descr="Saveetha University">
            <a:extLst>
              <a:ext uri="{FF2B5EF4-FFF2-40B4-BE49-F238E27FC236}">
                <a16:creationId xmlns:a16="http://schemas.microsoft.com/office/drawing/2014/main" id="{4DB0A6CC-D2E4-3EBD-1BCB-2D8D5BA44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0" y="306276"/>
            <a:ext cx="4062270" cy="831193"/>
          </a:xfrm>
          <a:prstGeom prst="rect">
            <a:avLst/>
          </a:prstGeom>
        </p:spPr>
      </p:pic>
      <p:pic>
        <p:nvPicPr>
          <p:cNvPr id="7" name="Picture 6" descr="Admissions — SIMATS">
            <a:extLst>
              <a:ext uri="{FF2B5EF4-FFF2-40B4-BE49-F238E27FC236}">
                <a16:creationId xmlns:a16="http://schemas.microsoft.com/office/drawing/2014/main" id="{4E88F337-D930-8BB9-0988-353937F2D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  <p:pic>
        <p:nvPicPr>
          <p:cNvPr id="8" name="Picture 7" descr="051 Implementing a Shortest Path Algorithm (Dijkstra) For Auto Routing the  Robots">
            <a:extLst>
              <a:ext uri="{FF2B5EF4-FFF2-40B4-BE49-F238E27FC236}">
                <a16:creationId xmlns:a16="http://schemas.microsoft.com/office/drawing/2014/main" id="{2AEB55E3-182D-3B20-8D5A-3096EAB42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390" y="2025777"/>
            <a:ext cx="4209240" cy="27778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Practical Applications of Reachability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Passengers can identify all stations accessible from their starting point.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Transit authorities can plan service improvements and expansions.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Emergency response planning benefits from understanding network reachability and vulnerabilities.</a:t>
            </a:r>
            <a:endParaRPr lang="en-US" sz="1600" dirty="0"/>
          </a:p>
        </p:txBody>
      </p:sp>
      <p:pic>
        <p:nvPicPr>
          <p:cNvPr id="5" name="Picture 4" descr="Admissions — SIMATS">
            <a:extLst>
              <a:ext uri="{FF2B5EF4-FFF2-40B4-BE49-F238E27FC236}">
                <a16:creationId xmlns:a16="http://schemas.microsoft.com/office/drawing/2014/main" id="{AB9AEDA1-E1A4-A31B-7A7F-448198F5C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  <p:pic>
        <p:nvPicPr>
          <p:cNvPr id="7" name="Picture 6" descr="Saveetha University">
            <a:extLst>
              <a:ext uri="{FF2B5EF4-FFF2-40B4-BE49-F238E27FC236}">
                <a16:creationId xmlns:a16="http://schemas.microsoft.com/office/drawing/2014/main" id="{9CC3D8F0-423B-B6A7-C463-B85EB0035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0" y="306276"/>
            <a:ext cx="4062270" cy="8311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Mapping and Route Determination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Network complexity increases with additional lines and transfer points.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Real-time disruptions like delays or closures can affect reachability.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Maintaining accurate and updated maps is crucial for reliable route planning.</a:t>
            </a:r>
            <a:endParaRPr lang="en-US" sz="1600" dirty="0"/>
          </a:p>
        </p:txBody>
      </p:sp>
      <p:pic>
        <p:nvPicPr>
          <p:cNvPr id="5" name="Picture 4" descr="Saveetha University">
            <a:extLst>
              <a:ext uri="{FF2B5EF4-FFF2-40B4-BE49-F238E27FC236}">
                <a16:creationId xmlns:a16="http://schemas.microsoft.com/office/drawing/2014/main" id="{FB025B90-E81A-8BAD-21FA-1DB61A506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0" y="306276"/>
            <a:ext cx="4062270" cy="831193"/>
          </a:xfrm>
          <a:prstGeom prst="rect">
            <a:avLst/>
          </a:prstGeom>
        </p:spPr>
      </p:pic>
      <p:pic>
        <p:nvPicPr>
          <p:cNvPr id="7" name="Picture 6" descr="Admissions — SIMATS">
            <a:extLst>
              <a:ext uri="{FF2B5EF4-FFF2-40B4-BE49-F238E27FC236}">
                <a16:creationId xmlns:a16="http://schemas.microsoft.com/office/drawing/2014/main" id="{64E887DC-F851-0D2D-B041-BDC8D321E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Modern Tools and Technologies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Digital mapping tools and Geographic Information Systems (GIS) enhance map accuracy.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Mobile apps integrate real-time data to provide dynamic route options.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algorithms can predict delays and optimize routing strategies.</a:t>
            </a:r>
            <a:endParaRPr lang="en-US" sz="1600" dirty="0"/>
          </a:p>
        </p:txBody>
      </p:sp>
      <p:pic>
        <p:nvPicPr>
          <p:cNvPr id="5" name="Picture 4" descr="Admissions — SIMATS">
            <a:extLst>
              <a:ext uri="{FF2B5EF4-FFF2-40B4-BE49-F238E27FC236}">
                <a16:creationId xmlns:a16="http://schemas.microsoft.com/office/drawing/2014/main" id="{6480CDEA-E1ED-3EAF-820C-FAD1D1DD1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  <p:pic>
        <p:nvPicPr>
          <p:cNvPr id="7" name="Picture 6" descr="Saveetha University">
            <a:extLst>
              <a:ext uri="{FF2B5EF4-FFF2-40B4-BE49-F238E27FC236}">
                <a16:creationId xmlns:a16="http://schemas.microsoft.com/office/drawing/2014/main" id="{C898AD57-1BE1-1BF2-8900-663C1A664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0" y="306276"/>
            <a:ext cx="4062270" cy="831193"/>
          </a:xfrm>
          <a:prstGeom prst="rect">
            <a:avLst/>
          </a:prstGeom>
        </p:spPr>
      </p:pic>
      <p:pic>
        <p:nvPicPr>
          <p:cNvPr id="8" name="Picture 7" descr="722,800+ Modern Tools Stock Photos, Pictures &amp; Royalty-Free ...">
            <a:extLst>
              <a:ext uri="{FF2B5EF4-FFF2-40B4-BE49-F238E27FC236}">
                <a16:creationId xmlns:a16="http://schemas.microsoft.com/office/drawing/2014/main" id="{54F5D759-CA88-5780-6261-3FF4327AA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560" y="1731264"/>
            <a:ext cx="3675888" cy="21701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Trends in Metro Network Mapping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Integration of multimodal transportation systems for seamless travel.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of augmented reality (AR) for interactive navigation.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Development of intelligent transit systems with real-time adaptive routing.</a:t>
            </a:r>
            <a:endParaRPr lang="en-US" sz="1600" dirty="0"/>
          </a:p>
        </p:txBody>
      </p:sp>
      <p:pic>
        <p:nvPicPr>
          <p:cNvPr id="5" name="Picture 4" descr="Saveetha University">
            <a:extLst>
              <a:ext uri="{FF2B5EF4-FFF2-40B4-BE49-F238E27FC236}">
                <a16:creationId xmlns:a16="http://schemas.microsoft.com/office/drawing/2014/main" id="{0D158952-6AE1-2A7C-38C4-C07962542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0" y="306276"/>
            <a:ext cx="4062270" cy="831193"/>
          </a:xfrm>
          <a:prstGeom prst="rect">
            <a:avLst/>
          </a:prstGeom>
        </p:spPr>
      </p:pic>
      <p:pic>
        <p:nvPicPr>
          <p:cNvPr id="7" name="Picture 6" descr="Admissions — SIMATS">
            <a:extLst>
              <a:ext uri="{FF2B5EF4-FFF2-40B4-BE49-F238E27FC236}">
                <a16:creationId xmlns:a16="http://schemas.microsoft.com/office/drawing/2014/main" id="{A481DED1-55BB-7010-DD44-E55847D37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  <p:pic>
        <p:nvPicPr>
          <p:cNvPr id="8" name="Picture 7" descr="India is home to the world's third-largest metro network ...">
            <a:extLst>
              <a:ext uri="{FF2B5EF4-FFF2-40B4-BE49-F238E27FC236}">
                <a16:creationId xmlns:a16="http://schemas.microsoft.com/office/drawing/2014/main" id="{DCC00BA5-9F4A-7B01-2929-561D664A39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584960"/>
            <a:ext cx="3858768" cy="2849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metro maps and route algorithms are vital for efficient urban transit.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reachability helps improve service delivery and passenger experience.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Continuous technological advancements will further enhance metro network mapping and planning.</a:t>
            </a:r>
            <a:endParaRPr lang="en-US" sz="1600" dirty="0"/>
          </a:p>
        </p:txBody>
      </p:sp>
      <p:pic>
        <p:nvPicPr>
          <p:cNvPr id="5" name="Picture 4" descr="Admissions — SIMATS">
            <a:extLst>
              <a:ext uri="{FF2B5EF4-FFF2-40B4-BE49-F238E27FC236}">
                <a16:creationId xmlns:a16="http://schemas.microsoft.com/office/drawing/2014/main" id="{484CB55D-3AC4-829E-D592-8158C0750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  <p:pic>
        <p:nvPicPr>
          <p:cNvPr id="7" name="Picture 6" descr="Saveetha University">
            <a:extLst>
              <a:ext uri="{FF2B5EF4-FFF2-40B4-BE49-F238E27FC236}">
                <a16:creationId xmlns:a16="http://schemas.microsoft.com/office/drawing/2014/main" id="{88CC762F-3ED0-9BEE-8B83-132E32CF5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0" y="306276"/>
            <a:ext cx="4062270" cy="8311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2400" b="1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endParaRPr lang="en-US" sz="1600" dirty="0">
              <a:solidFill>
                <a:srgbClr val="0000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Smith, J. (2022). Urban Transit Network Analysis. Transit Publishing.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Doe, A. (2021). Algorithms in Transportation Planning. Transportation Journal.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Metro Map Design Guidelines. (2020). City Transit Authority Documentation.</a:t>
            </a:r>
            <a:endParaRPr lang="en-US" sz="1600" dirty="0"/>
          </a:p>
        </p:txBody>
      </p:sp>
      <p:pic>
        <p:nvPicPr>
          <p:cNvPr id="5" name="Picture 4" descr="Saveetha University">
            <a:extLst>
              <a:ext uri="{FF2B5EF4-FFF2-40B4-BE49-F238E27FC236}">
                <a16:creationId xmlns:a16="http://schemas.microsoft.com/office/drawing/2014/main" id="{516A2D71-7C0A-51A2-BEAD-2CCFEFC9A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0" y="306276"/>
            <a:ext cx="4062270" cy="831193"/>
          </a:xfrm>
          <a:prstGeom prst="rect">
            <a:avLst/>
          </a:prstGeom>
        </p:spPr>
      </p:pic>
      <p:pic>
        <p:nvPicPr>
          <p:cNvPr id="7" name="Picture 6" descr="Admissions — SIMATS">
            <a:extLst>
              <a:ext uri="{FF2B5EF4-FFF2-40B4-BE49-F238E27FC236}">
                <a16:creationId xmlns:a16="http://schemas.microsoft.com/office/drawing/2014/main" id="{B8072E69-C1A3-6BEA-0010-9830586E6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493</Words>
  <Application>Microsoft Office PowerPoint</Application>
  <PresentationFormat>On-screen Show (16:9)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Optima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Metro Rail Network Maps Stations And Routes To Determine Reachable Stations From A Source Station.</dc:title>
  <dc:subject>A Metro Rail Network Maps Stations And Routes To Determine Reachable Stations From A Source Station.</dc:subject>
  <dc:creator>SlideMake.com</dc:creator>
  <cp:lastModifiedBy>AK Sys 16</cp:lastModifiedBy>
  <cp:revision>3</cp:revision>
  <dcterms:created xsi:type="dcterms:W3CDTF">2026-07-22T09:19:50Z</dcterms:created>
  <dcterms:modified xsi:type="dcterms:W3CDTF">2026-07-22T11:56:35Z</dcterms:modified>
</cp:coreProperties>
</file>