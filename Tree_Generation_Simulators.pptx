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601200" y="1033272"/>
            <a:ext cx="640080" cy="493776"/>
          </a:xfrm>
          <a:prstGeom prst="line">
            <a:avLst/>
          </a:prstGeom>
          <a:noFill/>
          <a:ln w="19050">
            <a:solidFill>
              <a:srgbClr val="5C8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1033272"/>
            <a:ext cx="640080" cy="493776"/>
          </a:xfrm>
          <a:prstGeom prst="line">
            <a:avLst/>
          </a:prstGeom>
          <a:noFill/>
          <a:ln w="19050">
            <a:solidFill>
              <a:srgbClr val="5C8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235440" y="1764792"/>
            <a:ext cx="365760" cy="493776"/>
          </a:xfrm>
          <a:prstGeom prst="line">
            <a:avLst/>
          </a:prstGeom>
          <a:noFill/>
          <a:ln w="19050">
            <a:solidFill>
              <a:srgbClr val="5C8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1764792"/>
            <a:ext cx="365760" cy="493776"/>
          </a:xfrm>
          <a:prstGeom prst="line">
            <a:avLst/>
          </a:prstGeom>
          <a:noFill/>
          <a:ln w="19050">
            <a:solidFill>
              <a:srgbClr val="5C8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0515600" y="1764792"/>
            <a:ext cx="365760" cy="493776"/>
          </a:xfrm>
          <a:prstGeom prst="line">
            <a:avLst/>
          </a:prstGeom>
          <a:noFill/>
          <a:ln w="19050">
            <a:solidFill>
              <a:srgbClr val="5C8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1764792"/>
            <a:ext cx="365760" cy="493776"/>
          </a:xfrm>
          <a:prstGeom prst="line">
            <a:avLst/>
          </a:prstGeom>
          <a:noFill/>
          <a:ln w="19050">
            <a:solidFill>
              <a:srgbClr val="5C8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22408" y="795528"/>
            <a:ext cx="237744" cy="23774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22408" y="795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482328" y="1527048"/>
            <a:ext cx="237744" cy="23774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2328" y="1527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762488" y="1527048"/>
            <a:ext cx="237744" cy="23774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62488" y="1527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16568" y="2258568"/>
            <a:ext cx="237744" cy="23774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16568" y="2258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848088" y="2258568"/>
            <a:ext cx="237744" cy="23774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8088" y="2258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396728" y="2258568"/>
            <a:ext cx="237744" cy="23774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96728" y="2258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128248" y="2258568"/>
            <a:ext cx="237744" cy="237744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28248" y="2258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1325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WORKSHOP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1737360"/>
            <a:ext cx="8961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Simulators for Generating Trees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4008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tour of interactive tools to build, insert into, and traverse trees — plus one original idea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" y="393192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4521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0690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Anil Kumar Reddy
</a:t>
            </a:r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192525249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Generation  •  Insertion &amp; Balancing  •  Traversal Practice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Simulate Tree Generation?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a tree grow node-by-node builds intuition that static diagrams can't.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Insertion mechanics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30632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where a new key lands and why, one comparison at a time.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82880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30752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in action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30752" y="30632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AVL/red-black rotations fire the instant a tree tips out of balance.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82880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56832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Traversal order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56832" y="30632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hand-traced Pre/In/Post/Level-order against an animated walk.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160020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0" y="182880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82912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feedback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582912" y="306324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edge cases — duplicates, skewed input, empty trees — without redrawing by hand.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by K. Anil Kumar Reddy · 192525249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VisuAlgo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1 · ANIMATED BST &amp; AVL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animated binary search trees and AVL trees where you can insert custom values and watch every step of the operation.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try: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49377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BST and AVL mode for the same input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skewed sequence (1, 2, 3, 4, 5) and compare shapes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rotation animate the instant AVL balance breaks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Pre/In/Post/Level-order with node highlighting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building instinct for how self-balancing trees stay shallow.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1097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keys, two shapes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BST (skewed)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2148840"/>
            <a:ext cx="365760" cy="13716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2651760"/>
            <a:ext cx="365760" cy="13716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3154680"/>
            <a:ext cx="365760" cy="13716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657600"/>
            <a:ext cx="365760" cy="13716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78308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228600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0" y="278892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0" y="329184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379476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3544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AVL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flipH="1">
            <a:off x="9784080" y="2286000"/>
            <a:ext cx="640080" cy="32004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4160" y="2286000"/>
            <a:ext cx="640080" cy="32004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10607040" y="2971800"/>
            <a:ext cx="457200" cy="32004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0" y="2971800"/>
            <a:ext cx="457200" cy="32004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41280" y="1920240"/>
            <a:ext cx="365760" cy="365760"/>
          </a:xfrm>
          <a:prstGeom prst="ellipse">
            <a:avLst/>
          </a:prstGeom>
          <a:solidFill>
            <a:srgbClr val="6B9E3F"/>
          </a:solidFill>
          <a:ln w="12700">
            <a:solidFill>
              <a:srgbClr val="6B9E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601200" y="2606040"/>
            <a:ext cx="365760" cy="365760"/>
          </a:xfrm>
          <a:prstGeom prst="ellipse">
            <a:avLst/>
          </a:prstGeom>
          <a:solidFill>
            <a:srgbClr val="6B9E3F"/>
          </a:solidFill>
          <a:ln w="12700">
            <a:solidFill>
              <a:srgbClr val="6B9E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881360" y="2606040"/>
            <a:ext cx="365760" cy="365760"/>
          </a:xfrm>
          <a:prstGeom prst="ellipse">
            <a:avLst/>
          </a:prstGeom>
          <a:solidFill>
            <a:srgbClr val="6B9E3F"/>
          </a:solidFill>
          <a:ln w="12700">
            <a:solidFill>
              <a:srgbClr val="6B9E3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8813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424160" y="3291840"/>
            <a:ext cx="365760" cy="365760"/>
          </a:xfrm>
          <a:prstGeom prst="ellipse">
            <a:avLst/>
          </a:prstGeom>
          <a:solidFill>
            <a:srgbClr val="6B9E3F"/>
          </a:solidFill>
          <a:ln w="12700">
            <a:solidFill>
              <a:srgbClr val="6B9E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241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1338560" y="3291840"/>
            <a:ext cx="365760" cy="365760"/>
          </a:xfrm>
          <a:prstGeom prst="ellipse">
            <a:avLst/>
          </a:prstGeom>
          <a:solidFill>
            <a:srgbClr val="6B9E3F"/>
          </a:solidFill>
          <a:ln w="12700">
            <a:solidFill>
              <a:srgbClr val="6B9E3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3385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0" y="4297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AVL version stays half the height — that's what a rotation buys you.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by K. Anil Kumar Reddy · 192525249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 Tree Visualizer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2 · BUILD, SEARCH, SORT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hands-on building, searching, and sorting visualizations for tree and graph structures in one workspace.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84832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values one at a time and watch the tree reshape live as each node finds its place.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084832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31546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search path key-by-key, highlighting exactly which comparisons succeed or fail.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084832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0392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03920" y="31546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in-order walk to pull a sorted sequence straight out of the tree's structure.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8280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connecting the three core BST operations — insert, search, sort — as one continuous workflow.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by K. Anil Kumar Reddy · 192525249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Tree Visualizer and Converter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3 · NODE LIST TO TREE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input node lists and instantly trace traversal orders visually against the generated drawing.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[8, 3, 10, 1, 6, null, 14]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tree is drawn instantly, ready to trace by hand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77240" y="36393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helps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drawing — paste any list and get a tree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checking your own hand-drawn answers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directly with LeetCode-style serialized input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 Tree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 flipH="1">
            <a:off x="7772400" y="2752344"/>
            <a:ext cx="1005840" cy="25603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2752344"/>
            <a:ext cx="1005840" cy="25603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7132320" y="3483864"/>
            <a:ext cx="640080" cy="25603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483864"/>
            <a:ext cx="640080" cy="25603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4080" y="3483864"/>
            <a:ext cx="640080" cy="25603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0496" y="2276856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0496" y="2276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34656" y="3008376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34656" y="3008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546336" y="3008376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46336" y="3008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94576" y="3739896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3739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74736" y="3739896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3739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186416" y="3739896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86416" y="3739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by K. Anil Kumar Reddy · 192525249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Labs IIITH — Tree Traversal Practice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4 · CLICK-THROUGH PRACTICE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interactive practice module: click through the nodes of a tree in the correct traversal order and get instant right/wrong feedback.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round works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lab shows a randomized tree and names a target order (say, Post-order)
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You click nodes one at a time in the order you believe is correct
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wrong click is flagged immediately, so mistakes are caught early
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 fresh random tree loads for the next round — unlimited reps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237744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Exam-style timed practice under pressure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order mistakes (e.g. swapping Left/Right) before they become habits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Practicing without needing a pen or paper at all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55080" y="4892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government-supported lab from IIIT Hyderabad, free to use.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by K. Anil Kumar Reddy · 192525249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Innovation: The "Compare-and-Grow" Simulator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IDEA · BEYOND THE EXISTING TOOLS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for a simulator none of the four tools above offer: growing two trees side-by-side from the same input, so the cost of each design choice is visible instantly.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103120"/>
            <a:ext cx="438912" cy="43891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6384" y="26517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Dual-tree race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6384" y="32461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one key sequence into two trees at once — e.g. plain BST vs AVL, or BST vs Red-Black — and insert step-by-step in lockstep.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474720" y="187452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0752" y="2103120"/>
            <a:ext cx="438912" cy="43891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12464" y="26517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cost meter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12464" y="32461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display comparisons-per-insert and current height for each tree, updating after every single insertion.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0" y="187452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5F5F5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6832" y="2103120"/>
            <a:ext cx="438912" cy="43891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38544" y="26517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Rotation replay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38544" y="32461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a self-balancing tree rotates, freeze the frame and replay the rotation in slow motion with an on-screen explanation.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326880" y="1874520"/>
            <a:ext cx="2697480" cy="28346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82912" y="2103120"/>
            <a:ext cx="438912" cy="43891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82912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64624" y="26517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Traversal race mode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64624" y="32461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trees run the same traversal simultaneously; the visualizer highlights where their node-visit order diverges.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0109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useful: existing tools show one tree at a time — seeing two grow together makes the payoff of balancing immediately obvious, not just stated.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by K. Anil Kumar Reddy · 192525249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66960" y="5321808"/>
            <a:ext cx="640080" cy="420624"/>
          </a:xfrm>
          <a:prstGeom prst="line">
            <a:avLst/>
          </a:prstGeom>
          <a:noFill/>
          <a:ln w="19050">
            <a:solidFill>
              <a:srgbClr val="5C8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321808"/>
            <a:ext cx="640080" cy="420624"/>
          </a:xfrm>
          <a:prstGeom prst="line">
            <a:avLst/>
          </a:prstGeom>
          <a:noFill/>
          <a:ln w="19050">
            <a:solidFill>
              <a:srgbClr val="5C8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601200" y="5961888"/>
            <a:ext cx="365760" cy="374904"/>
          </a:xfrm>
          <a:prstGeom prst="line">
            <a:avLst/>
          </a:prstGeom>
          <a:noFill/>
          <a:ln w="19050">
            <a:solidFill>
              <a:srgbClr val="5C8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0" y="5961888"/>
            <a:ext cx="365760" cy="374904"/>
          </a:xfrm>
          <a:prstGeom prst="line">
            <a:avLst/>
          </a:prstGeom>
          <a:noFill/>
          <a:ln w="19050">
            <a:solidFill>
              <a:srgbClr val="5C8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0881360" y="5961888"/>
            <a:ext cx="365760" cy="374904"/>
          </a:xfrm>
          <a:prstGeom prst="line">
            <a:avLst/>
          </a:prstGeom>
          <a:noFill/>
          <a:ln w="19050">
            <a:solidFill>
              <a:srgbClr val="5C8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0" y="5961888"/>
            <a:ext cx="365760" cy="374904"/>
          </a:xfrm>
          <a:prstGeom prst="line">
            <a:avLst/>
          </a:prstGeom>
          <a:noFill/>
          <a:ln w="19050">
            <a:solidFill>
              <a:srgbClr val="5C8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97312" y="5102352"/>
            <a:ext cx="219456" cy="21945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97312" y="5102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57232" y="5742432"/>
            <a:ext cx="219456" cy="21945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57232" y="5742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137392" y="5742432"/>
            <a:ext cx="219456" cy="21945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37392" y="57424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91472" y="6336792"/>
            <a:ext cx="219456" cy="21945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91472" y="6336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222992" y="6336792"/>
            <a:ext cx="219456" cy="21945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22992" y="6336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771632" y="6336792"/>
            <a:ext cx="219456" cy="21945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71632" y="6336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503152" y="6336792"/>
            <a:ext cx="219456" cy="219456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03152" y="6336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1920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Simulator, Start Growing Trees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22960" y="2834640"/>
            <a:ext cx="8869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VisuAlgo or the BST Visualizer to build intuition, the Converter to check your own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sketches, and Virtual Labs IIITH to drill traversal order until it's automatic.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2960" y="40690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4521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2062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Anil Kumar Reddy
</a:t>
            </a:r>
            <a:pPr indent="0" marL="0">
              <a:buNone/>
            </a:pPr>
            <a:r>
              <a:rPr lang="en-US" sz="12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192525249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5532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2026-08-08T10:31:32Z</dcterms:created>
  <dcterms:modified xsi:type="dcterms:W3CDTF">2026-08-08T10:31:32Z</dcterms:modified>
</cp:coreProperties>
</file>