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8/9/2026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659991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5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27909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1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2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2171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3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9026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9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0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08704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061877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8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9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577520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5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6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31426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2" name="对象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73" name="文本框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635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95191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548921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56377485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05228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29566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95512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27132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6379573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32581738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235713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326425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860538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42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pitchFamily="0" charset="0"/>
          <a:ea typeface="等线 Light" pitchFamily="0" charset="0"/>
          <a:cs typeface="Calibri Light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线"/>
          <p:cNvSpPr>
            <a:spLocks/>
          </p:cNvSpPr>
          <p:nvPr/>
        </p:nvSpPr>
        <p:spPr>
          <a:xfrm flipH="1" rot="0">
            <a:off x="9601200" y="1033272"/>
            <a:ext cx="640080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9" name="直线"/>
          <p:cNvSpPr>
            <a:spLocks/>
          </p:cNvSpPr>
          <p:nvPr/>
        </p:nvSpPr>
        <p:spPr>
          <a:xfrm rot="0">
            <a:off x="10241281" y="1033272"/>
            <a:ext cx="640080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10" name="直线"/>
          <p:cNvSpPr>
            <a:spLocks/>
          </p:cNvSpPr>
          <p:nvPr/>
        </p:nvSpPr>
        <p:spPr>
          <a:xfrm flipH="1" rot="0">
            <a:off x="9235440" y="1764791"/>
            <a:ext cx="365759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11" name="直线"/>
          <p:cNvSpPr>
            <a:spLocks/>
          </p:cNvSpPr>
          <p:nvPr/>
        </p:nvSpPr>
        <p:spPr>
          <a:xfrm rot="0">
            <a:off x="9601200" y="1764791"/>
            <a:ext cx="365760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12" name="直线"/>
          <p:cNvSpPr>
            <a:spLocks/>
          </p:cNvSpPr>
          <p:nvPr/>
        </p:nvSpPr>
        <p:spPr>
          <a:xfrm flipH="1" rot="0">
            <a:off x="10515600" y="1764791"/>
            <a:ext cx="365760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13" name="直线"/>
          <p:cNvSpPr>
            <a:spLocks/>
          </p:cNvSpPr>
          <p:nvPr/>
        </p:nvSpPr>
        <p:spPr>
          <a:xfrm rot="0">
            <a:off x="10881359" y="1764791"/>
            <a:ext cx="365760" cy="493775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14" name="椭圆"/>
          <p:cNvSpPr>
            <a:spLocks/>
          </p:cNvSpPr>
          <p:nvPr/>
        </p:nvSpPr>
        <p:spPr>
          <a:xfrm rot="0">
            <a:off x="10122408" y="795528"/>
            <a:ext cx="237743" cy="237744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10122408" y="795528"/>
            <a:ext cx="237743" cy="237744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" name="椭圆"/>
          <p:cNvSpPr>
            <a:spLocks/>
          </p:cNvSpPr>
          <p:nvPr/>
        </p:nvSpPr>
        <p:spPr>
          <a:xfrm rot="0">
            <a:off x="9482328" y="1527047"/>
            <a:ext cx="237744" cy="237743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17" name="矩形"/>
          <p:cNvSpPr>
            <a:spLocks/>
          </p:cNvSpPr>
          <p:nvPr/>
        </p:nvSpPr>
        <p:spPr>
          <a:xfrm rot="0">
            <a:off x="9482328" y="1527047"/>
            <a:ext cx="237744" cy="237743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" name="椭圆"/>
          <p:cNvSpPr>
            <a:spLocks/>
          </p:cNvSpPr>
          <p:nvPr/>
        </p:nvSpPr>
        <p:spPr>
          <a:xfrm rot="0">
            <a:off x="10762488" y="1527047"/>
            <a:ext cx="237743" cy="237743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10762488" y="1527047"/>
            <a:ext cx="237743" cy="237743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" name="椭圆"/>
          <p:cNvSpPr>
            <a:spLocks/>
          </p:cNvSpPr>
          <p:nvPr/>
        </p:nvSpPr>
        <p:spPr>
          <a:xfrm rot="0">
            <a:off x="9116568" y="2258568"/>
            <a:ext cx="237744" cy="237744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1" name="矩形"/>
          <p:cNvSpPr>
            <a:spLocks/>
          </p:cNvSpPr>
          <p:nvPr/>
        </p:nvSpPr>
        <p:spPr>
          <a:xfrm rot="0">
            <a:off x="9116568" y="2258568"/>
            <a:ext cx="237744" cy="237744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2" name="椭圆"/>
          <p:cNvSpPr>
            <a:spLocks/>
          </p:cNvSpPr>
          <p:nvPr/>
        </p:nvSpPr>
        <p:spPr>
          <a:xfrm rot="0">
            <a:off x="9848089" y="2258568"/>
            <a:ext cx="237743" cy="237744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3" name="矩形"/>
          <p:cNvSpPr>
            <a:spLocks/>
          </p:cNvSpPr>
          <p:nvPr/>
        </p:nvSpPr>
        <p:spPr>
          <a:xfrm rot="0">
            <a:off x="9848089" y="2258568"/>
            <a:ext cx="237743" cy="237744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4" name="椭圆"/>
          <p:cNvSpPr>
            <a:spLocks/>
          </p:cNvSpPr>
          <p:nvPr/>
        </p:nvSpPr>
        <p:spPr>
          <a:xfrm rot="0">
            <a:off x="10396728" y="2258568"/>
            <a:ext cx="237743" cy="237744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10396728" y="2258568"/>
            <a:ext cx="237743" cy="237744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" name="椭圆"/>
          <p:cNvSpPr>
            <a:spLocks/>
          </p:cNvSpPr>
          <p:nvPr/>
        </p:nvSpPr>
        <p:spPr>
          <a:xfrm rot="0">
            <a:off x="11128248" y="2258568"/>
            <a:ext cx="237743" cy="237744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11128248" y="2258568"/>
            <a:ext cx="237743" cy="237744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640080" y="1371600"/>
            <a:ext cx="7315200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20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DATA STRUCTURES WORKSHOP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640080" y="1783080"/>
            <a:ext cx="868680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Tree Traversal Challenges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640080" y="2880360"/>
            <a:ext cx="8046719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1" u="none" strike="noStrike" kern="1200" cap="none" spc="0" baseline="0">
                <a:solidFill>
                  <a:srgbClr val="F5F5F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Pre-order · In-order · Post-order · Level-order — practice problems and interactive tools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1" name="圆角矩形"/>
          <p:cNvSpPr>
            <a:spLocks/>
          </p:cNvSpPr>
          <p:nvPr/>
        </p:nvSpPr>
        <p:spPr>
          <a:xfrm rot="0">
            <a:off x="640080" y="3931920"/>
            <a:ext cx="4206240" cy="1051560"/>
          </a:xfrm>
          <a:prstGeom prst="roundRect">
            <a:avLst>
              <a:gd name="adj" fmla="val 6958"/>
            </a:avLst>
          </a:prstGeom>
          <a:solidFill>
            <a:srgbClr val="24521F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32" name="矩形"/>
          <p:cNvSpPr>
            <a:spLocks/>
          </p:cNvSpPr>
          <p:nvPr/>
        </p:nvSpPr>
        <p:spPr>
          <a:xfrm rot="0">
            <a:off x="868680" y="4069080"/>
            <a:ext cx="374904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K. Anil Kumar Reddy
</a:t>
            </a:r>
            <a:r>
              <a:rPr lang="en-US" altLang="zh-CN" sz="1300" b="0" i="0" u="none" strike="noStrike" kern="1200" cap="none" spc="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Reg No: 192525249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640080" y="6263640"/>
            <a:ext cx="731520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B7CBA8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Binary Trees  •  Traversal Algorithms  •  Practice Set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286813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"/>
          <p:cNvSpPr>
            <a:spLocks/>
          </p:cNvSpPr>
          <p:nvPr/>
        </p:nvSpPr>
        <p:spPr>
          <a:xfrm rot="0">
            <a:off x="548640" y="365760"/>
            <a:ext cx="91440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Four Traversal Orders</a:t>
            </a:r>
            <a:endParaRPr lang="zh-CN" altLang="en-US" sz="3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7" name="圆角矩形"/>
          <p:cNvSpPr>
            <a:spLocks/>
          </p:cNvSpPr>
          <p:nvPr/>
        </p:nvSpPr>
        <p:spPr>
          <a:xfrm rot="0">
            <a:off x="548640" y="1143000"/>
            <a:ext cx="6309360" cy="640079"/>
          </a:xfrm>
          <a:prstGeom prst="roundRect">
            <a:avLst>
              <a:gd name="adj" fmla="val 8569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38" name="椭圆"/>
          <p:cNvSpPr>
            <a:spLocks/>
          </p:cNvSpPr>
          <p:nvPr/>
        </p:nvSpPr>
        <p:spPr>
          <a:xfrm rot="0">
            <a:off x="777240" y="1298448"/>
            <a:ext cx="329184" cy="32918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777240" y="1298448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1280160" y="1197864"/>
            <a:ext cx="210312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Pre-order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3429000" y="1197864"/>
            <a:ext cx="329183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Root → Left → Right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矩形"/>
          <p:cNvSpPr>
            <a:spLocks/>
          </p:cNvSpPr>
          <p:nvPr/>
        </p:nvSpPr>
        <p:spPr>
          <a:xfrm rot="0">
            <a:off x="1280160" y="1490471"/>
            <a:ext cx="5394960" cy="2743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Used for: Copy / serialize a tree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圆角矩形"/>
          <p:cNvSpPr>
            <a:spLocks/>
          </p:cNvSpPr>
          <p:nvPr/>
        </p:nvSpPr>
        <p:spPr>
          <a:xfrm rot="0">
            <a:off x="548640" y="1920240"/>
            <a:ext cx="6309360" cy="640080"/>
          </a:xfrm>
          <a:prstGeom prst="roundRect">
            <a:avLst>
              <a:gd name="adj" fmla="val 8569"/>
            </a:avLst>
          </a:prstGeom>
          <a:solidFill>
            <a:srgbClr val="FFFFFF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44" name="椭圆"/>
          <p:cNvSpPr>
            <a:spLocks/>
          </p:cNvSpPr>
          <p:nvPr/>
        </p:nvSpPr>
        <p:spPr>
          <a:xfrm rot="0">
            <a:off x="777240" y="2075688"/>
            <a:ext cx="329184" cy="32918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45" name="矩形"/>
          <p:cNvSpPr>
            <a:spLocks/>
          </p:cNvSpPr>
          <p:nvPr/>
        </p:nvSpPr>
        <p:spPr>
          <a:xfrm rot="0">
            <a:off x="777240" y="2075688"/>
            <a:ext cx="329184" cy="32918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 rot="0">
            <a:off x="1280160" y="1975103"/>
            <a:ext cx="210312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In-order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 rot="0">
            <a:off x="3429000" y="1975103"/>
            <a:ext cx="329183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Left → Root → Right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 rot="0">
            <a:off x="1280160" y="2267712"/>
            <a:ext cx="53949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Used for: Sorted output of a BST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圆角矩形"/>
          <p:cNvSpPr>
            <a:spLocks/>
          </p:cNvSpPr>
          <p:nvPr/>
        </p:nvSpPr>
        <p:spPr>
          <a:xfrm rot="0">
            <a:off x="548640" y="2697480"/>
            <a:ext cx="6309360" cy="640079"/>
          </a:xfrm>
          <a:prstGeom prst="roundRect">
            <a:avLst>
              <a:gd name="adj" fmla="val 8569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50" name="椭圆"/>
          <p:cNvSpPr>
            <a:spLocks/>
          </p:cNvSpPr>
          <p:nvPr/>
        </p:nvSpPr>
        <p:spPr>
          <a:xfrm rot="0">
            <a:off x="777240" y="2852928"/>
            <a:ext cx="329184" cy="329183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51" name="矩形"/>
          <p:cNvSpPr>
            <a:spLocks/>
          </p:cNvSpPr>
          <p:nvPr/>
        </p:nvSpPr>
        <p:spPr>
          <a:xfrm rot="0">
            <a:off x="777240" y="2852928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1280160" y="2752344"/>
            <a:ext cx="21031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Post-order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3429000" y="2752344"/>
            <a:ext cx="32918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Left → Right → Root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1280160" y="3044952"/>
            <a:ext cx="53949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Used for: Delete / free a tree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" name="圆角矩形"/>
          <p:cNvSpPr>
            <a:spLocks/>
          </p:cNvSpPr>
          <p:nvPr/>
        </p:nvSpPr>
        <p:spPr>
          <a:xfrm rot="0">
            <a:off x="548640" y="3474720"/>
            <a:ext cx="6309360" cy="640079"/>
          </a:xfrm>
          <a:prstGeom prst="roundRect">
            <a:avLst>
              <a:gd name="adj" fmla="val 8569"/>
            </a:avLst>
          </a:prstGeom>
          <a:solidFill>
            <a:srgbClr val="FFFFFF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56" name="椭圆"/>
          <p:cNvSpPr>
            <a:spLocks/>
          </p:cNvSpPr>
          <p:nvPr/>
        </p:nvSpPr>
        <p:spPr>
          <a:xfrm rot="0">
            <a:off x="777240" y="3630167"/>
            <a:ext cx="329184" cy="329183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57" name="矩形"/>
          <p:cNvSpPr>
            <a:spLocks/>
          </p:cNvSpPr>
          <p:nvPr/>
        </p:nvSpPr>
        <p:spPr>
          <a:xfrm rot="0">
            <a:off x="777240" y="3630167"/>
            <a:ext cx="329184" cy="32918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1280160" y="3529583"/>
            <a:ext cx="210312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Level-order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3429000" y="3529583"/>
            <a:ext cx="3291839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Top to bottom, row by row (BFS)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1280160" y="3822192"/>
            <a:ext cx="53949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Used for: Shortest-path style scans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7315200" y="1143000"/>
            <a:ext cx="429768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Reference Tree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直线"/>
          <p:cNvSpPr>
            <a:spLocks/>
          </p:cNvSpPr>
          <p:nvPr/>
        </p:nvSpPr>
        <p:spPr>
          <a:xfrm flipH="1" rot="0">
            <a:off x="8412480" y="2185416"/>
            <a:ext cx="1005840" cy="384047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3" name="直线"/>
          <p:cNvSpPr>
            <a:spLocks/>
          </p:cNvSpPr>
          <p:nvPr/>
        </p:nvSpPr>
        <p:spPr>
          <a:xfrm rot="0">
            <a:off x="9418320" y="2185416"/>
            <a:ext cx="1005839" cy="384047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4" name="直线"/>
          <p:cNvSpPr>
            <a:spLocks/>
          </p:cNvSpPr>
          <p:nvPr/>
        </p:nvSpPr>
        <p:spPr>
          <a:xfrm flipH="1" rot="0">
            <a:off x="7863840" y="3008376"/>
            <a:ext cx="548640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5" name="直线"/>
          <p:cNvSpPr>
            <a:spLocks/>
          </p:cNvSpPr>
          <p:nvPr/>
        </p:nvSpPr>
        <p:spPr>
          <a:xfrm rot="0">
            <a:off x="8412480" y="3008376"/>
            <a:ext cx="548640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6" name="直线"/>
          <p:cNvSpPr>
            <a:spLocks/>
          </p:cNvSpPr>
          <p:nvPr/>
        </p:nvSpPr>
        <p:spPr>
          <a:xfrm flipH="1" rot="0">
            <a:off x="8549640" y="3831336"/>
            <a:ext cx="411480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7" name="直线"/>
          <p:cNvSpPr>
            <a:spLocks/>
          </p:cNvSpPr>
          <p:nvPr/>
        </p:nvSpPr>
        <p:spPr>
          <a:xfrm rot="0">
            <a:off x="8961120" y="3831336"/>
            <a:ext cx="411480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8" name="直线"/>
          <p:cNvSpPr>
            <a:spLocks/>
          </p:cNvSpPr>
          <p:nvPr/>
        </p:nvSpPr>
        <p:spPr>
          <a:xfrm rot="0">
            <a:off x="10424161" y="3008376"/>
            <a:ext cx="548639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69" name="直线"/>
          <p:cNvSpPr>
            <a:spLocks/>
          </p:cNvSpPr>
          <p:nvPr/>
        </p:nvSpPr>
        <p:spPr>
          <a:xfrm flipH="1" rot="0">
            <a:off x="10607040" y="3831336"/>
            <a:ext cx="365760" cy="384048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70" name="椭圆"/>
          <p:cNvSpPr>
            <a:spLocks/>
          </p:cNvSpPr>
          <p:nvPr/>
        </p:nvSpPr>
        <p:spPr>
          <a:xfrm rot="0">
            <a:off x="9198864" y="174650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9198864" y="174650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2" name="椭圆"/>
          <p:cNvSpPr>
            <a:spLocks/>
          </p:cNvSpPr>
          <p:nvPr/>
        </p:nvSpPr>
        <p:spPr>
          <a:xfrm rot="0">
            <a:off x="8193023" y="2569463"/>
            <a:ext cx="438911" cy="438911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73" name="矩形"/>
          <p:cNvSpPr>
            <a:spLocks/>
          </p:cNvSpPr>
          <p:nvPr/>
        </p:nvSpPr>
        <p:spPr>
          <a:xfrm rot="0">
            <a:off x="8193023" y="2569463"/>
            <a:ext cx="438911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4" name="椭圆"/>
          <p:cNvSpPr>
            <a:spLocks/>
          </p:cNvSpPr>
          <p:nvPr/>
        </p:nvSpPr>
        <p:spPr>
          <a:xfrm rot="0">
            <a:off x="10204705" y="2569463"/>
            <a:ext cx="438911" cy="438911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10204705" y="2569463"/>
            <a:ext cx="438911" cy="43891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椭圆"/>
          <p:cNvSpPr>
            <a:spLocks/>
          </p:cNvSpPr>
          <p:nvPr/>
        </p:nvSpPr>
        <p:spPr>
          <a:xfrm rot="0">
            <a:off x="7644384" y="339242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77" name="矩形"/>
          <p:cNvSpPr>
            <a:spLocks/>
          </p:cNvSpPr>
          <p:nvPr/>
        </p:nvSpPr>
        <p:spPr>
          <a:xfrm rot="0">
            <a:off x="7644384" y="339242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椭圆"/>
          <p:cNvSpPr>
            <a:spLocks/>
          </p:cNvSpPr>
          <p:nvPr/>
        </p:nvSpPr>
        <p:spPr>
          <a:xfrm rot="0">
            <a:off x="8741664" y="339242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79" name="矩形"/>
          <p:cNvSpPr>
            <a:spLocks/>
          </p:cNvSpPr>
          <p:nvPr/>
        </p:nvSpPr>
        <p:spPr>
          <a:xfrm rot="0">
            <a:off x="8741664" y="339242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椭圆"/>
          <p:cNvSpPr>
            <a:spLocks/>
          </p:cNvSpPr>
          <p:nvPr/>
        </p:nvSpPr>
        <p:spPr>
          <a:xfrm rot="0">
            <a:off x="10753344" y="339242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81" name="矩形"/>
          <p:cNvSpPr>
            <a:spLocks/>
          </p:cNvSpPr>
          <p:nvPr/>
        </p:nvSpPr>
        <p:spPr>
          <a:xfrm rot="0">
            <a:off x="10753344" y="339242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椭圆"/>
          <p:cNvSpPr>
            <a:spLocks/>
          </p:cNvSpPr>
          <p:nvPr/>
        </p:nvSpPr>
        <p:spPr>
          <a:xfrm rot="0">
            <a:off x="8330184" y="421538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83" name="矩形"/>
          <p:cNvSpPr>
            <a:spLocks/>
          </p:cNvSpPr>
          <p:nvPr/>
        </p:nvSpPr>
        <p:spPr>
          <a:xfrm rot="0">
            <a:off x="8330184" y="421538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4" name="椭圆"/>
          <p:cNvSpPr>
            <a:spLocks/>
          </p:cNvSpPr>
          <p:nvPr/>
        </p:nvSpPr>
        <p:spPr>
          <a:xfrm rot="0">
            <a:off x="9153144" y="421538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9153144" y="421538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6" name="椭圆"/>
          <p:cNvSpPr>
            <a:spLocks/>
          </p:cNvSpPr>
          <p:nvPr/>
        </p:nvSpPr>
        <p:spPr>
          <a:xfrm rot="0">
            <a:off x="10387585" y="4215384"/>
            <a:ext cx="438911" cy="438912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87" name="矩形"/>
          <p:cNvSpPr>
            <a:spLocks/>
          </p:cNvSpPr>
          <p:nvPr/>
        </p:nvSpPr>
        <p:spPr>
          <a:xfrm rot="0">
            <a:off x="10387585" y="4215384"/>
            <a:ext cx="438911" cy="43891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圆角矩形"/>
          <p:cNvSpPr>
            <a:spLocks/>
          </p:cNvSpPr>
          <p:nvPr/>
        </p:nvSpPr>
        <p:spPr>
          <a:xfrm rot="0">
            <a:off x="7315200" y="4892040"/>
            <a:ext cx="4297680" cy="1234440"/>
          </a:xfrm>
          <a:prstGeom prst="roundRect">
            <a:avLst>
              <a:gd name="adj" fmla="val 5925"/>
            </a:avLst>
          </a:prstGeom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89" name="矩形"/>
          <p:cNvSpPr>
            <a:spLocks/>
          </p:cNvSpPr>
          <p:nvPr/>
        </p:nvSpPr>
        <p:spPr>
          <a:xfrm rot="0">
            <a:off x="7543800" y="5010912"/>
            <a:ext cx="3840479" cy="1005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Pre:  F B A D C E G I H
</a:t>
            </a: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In:   A B C D E F G H I
</a:t>
            </a: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Post: A C E D B H I G F
</a:t>
            </a: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Lvl:  F B G A D I C E H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0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98953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圆角矩形"/>
          <p:cNvSpPr>
            <a:spLocks/>
          </p:cNvSpPr>
          <p:nvPr/>
        </p:nvSpPr>
        <p:spPr>
          <a:xfrm rot="0">
            <a:off x="0" y="0"/>
            <a:ext cx="12188953" cy="822960"/>
          </a:xfrm>
          <a:prstGeom prst="roundRect">
            <a:avLst>
              <a:gd name="adj" fmla="val 16666"/>
            </a:avLst>
          </a:prstGeom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548640" y="109728"/>
            <a:ext cx="4572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Challenge 1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548640" y="502919"/>
            <a:ext cx="7315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15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WRITE ALL FOUR TRAVERSALS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 rot="0">
            <a:off x="548640" y="1051560"/>
            <a:ext cx="5760720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1E2B1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For the binary tree below, write out the Pre-order, In-order, Post-order and Level-order sequences.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直线"/>
          <p:cNvSpPr>
            <a:spLocks/>
          </p:cNvSpPr>
          <p:nvPr/>
        </p:nvSpPr>
        <p:spPr>
          <a:xfrm flipH="1" rot="0">
            <a:off x="1737360" y="2724912"/>
            <a:ext cx="1097280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98" name="直线"/>
          <p:cNvSpPr>
            <a:spLocks/>
          </p:cNvSpPr>
          <p:nvPr/>
        </p:nvSpPr>
        <p:spPr>
          <a:xfrm rot="0">
            <a:off x="2834640" y="2724912"/>
            <a:ext cx="1097280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99" name="直线"/>
          <p:cNvSpPr>
            <a:spLocks/>
          </p:cNvSpPr>
          <p:nvPr/>
        </p:nvSpPr>
        <p:spPr>
          <a:xfrm flipH="1" rot="0">
            <a:off x="1097280" y="3547872"/>
            <a:ext cx="640079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00" name="直线"/>
          <p:cNvSpPr>
            <a:spLocks/>
          </p:cNvSpPr>
          <p:nvPr/>
        </p:nvSpPr>
        <p:spPr>
          <a:xfrm rot="0">
            <a:off x="1737360" y="3547872"/>
            <a:ext cx="640079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01" name="直线"/>
          <p:cNvSpPr>
            <a:spLocks/>
          </p:cNvSpPr>
          <p:nvPr/>
        </p:nvSpPr>
        <p:spPr>
          <a:xfrm flipH="1" rot="0">
            <a:off x="3291840" y="3547872"/>
            <a:ext cx="640079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02" name="直线"/>
          <p:cNvSpPr>
            <a:spLocks/>
          </p:cNvSpPr>
          <p:nvPr/>
        </p:nvSpPr>
        <p:spPr>
          <a:xfrm rot="0">
            <a:off x="3931920" y="3547872"/>
            <a:ext cx="640079" cy="310896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03" name="椭圆"/>
          <p:cNvSpPr>
            <a:spLocks/>
          </p:cNvSpPr>
          <p:nvPr/>
        </p:nvSpPr>
        <p:spPr>
          <a:xfrm rot="0">
            <a:off x="2578608" y="2212848"/>
            <a:ext cx="512063" cy="512063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04" name="矩形"/>
          <p:cNvSpPr>
            <a:spLocks/>
          </p:cNvSpPr>
          <p:nvPr/>
        </p:nvSpPr>
        <p:spPr>
          <a:xfrm rot="0">
            <a:off x="2578608" y="2212848"/>
            <a:ext cx="512063" cy="5120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50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椭圆"/>
          <p:cNvSpPr>
            <a:spLocks/>
          </p:cNvSpPr>
          <p:nvPr/>
        </p:nvSpPr>
        <p:spPr>
          <a:xfrm rot="0">
            <a:off x="1481328" y="3035808"/>
            <a:ext cx="512063" cy="512063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06" name="矩形"/>
          <p:cNvSpPr>
            <a:spLocks/>
          </p:cNvSpPr>
          <p:nvPr/>
        </p:nvSpPr>
        <p:spPr>
          <a:xfrm rot="0">
            <a:off x="1481328" y="3035808"/>
            <a:ext cx="512063" cy="5120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椭圆"/>
          <p:cNvSpPr>
            <a:spLocks/>
          </p:cNvSpPr>
          <p:nvPr/>
        </p:nvSpPr>
        <p:spPr>
          <a:xfrm rot="0">
            <a:off x="3675888" y="3035808"/>
            <a:ext cx="512064" cy="512063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08" name="矩形"/>
          <p:cNvSpPr>
            <a:spLocks/>
          </p:cNvSpPr>
          <p:nvPr/>
        </p:nvSpPr>
        <p:spPr>
          <a:xfrm rot="0">
            <a:off x="3675888" y="3035808"/>
            <a:ext cx="512064" cy="5120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70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椭圆"/>
          <p:cNvSpPr>
            <a:spLocks/>
          </p:cNvSpPr>
          <p:nvPr/>
        </p:nvSpPr>
        <p:spPr>
          <a:xfrm rot="0">
            <a:off x="841248" y="3858768"/>
            <a:ext cx="512063" cy="51206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841248" y="3858768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椭圆"/>
          <p:cNvSpPr>
            <a:spLocks/>
          </p:cNvSpPr>
          <p:nvPr/>
        </p:nvSpPr>
        <p:spPr>
          <a:xfrm rot="0">
            <a:off x="2121408" y="3858768"/>
            <a:ext cx="512063" cy="51206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12" name="矩形"/>
          <p:cNvSpPr>
            <a:spLocks/>
          </p:cNvSpPr>
          <p:nvPr/>
        </p:nvSpPr>
        <p:spPr>
          <a:xfrm rot="0">
            <a:off x="2121408" y="3858768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40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椭圆"/>
          <p:cNvSpPr>
            <a:spLocks/>
          </p:cNvSpPr>
          <p:nvPr/>
        </p:nvSpPr>
        <p:spPr>
          <a:xfrm rot="0">
            <a:off x="3035808" y="3858768"/>
            <a:ext cx="512063" cy="51206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3035808" y="3858768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60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5" name="椭圆"/>
          <p:cNvSpPr>
            <a:spLocks/>
          </p:cNvSpPr>
          <p:nvPr/>
        </p:nvSpPr>
        <p:spPr>
          <a:xfrm rot="0">
            <a:off x="4315968" y="3858768"/>
            <a:ext cx="512063" cy="512064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16" name="矩形"/>
          <p:cNvSpPr>
            <a:spLocks/>
          </p:cNvSpPr>
          <p:nvPr/>
        </p:nvSpPr>
        <p:spPr>
          <a:xfrm rot="0">
            <a:off x="4315968" y="3858768"/>
            <a:ext cx="512063" cy="5120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80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圆角矩形"/>
          <p:cNvSpPr>
            <a:spLocks/>
          </p:cNvSpPr>
          <p:nvPr/>
        </p:nvSpPr>
        <p:spPr>
          <a:xfrm rot="0">
            <a:off x="5943599" y="1051560"/>
            <a:ext cx="5669280" cy="3749040"/>
          </a:xfrm>
          <a:prstGeom prst="roundRect">
            <a:avLst>
              <a:gd name="adj" fmla="val 1949"/>
            </a:avLst>
          </a:prstGeom>
          <a:solidFill>
            <a:srgbClr val="F5F5F5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118" name="矩形"/>
          <p:cNvSpPr>
            <a:spLocks/>
          </p:cNvSpPr>
          <p:nvPr/>
        </p:nvSpPr>
        <p:spPr>
          <a:xfrm rot="0">
            <a:off x="6172200" y="1188720"/>
            <a:ext cx="5212080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Your Answers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6172200" y="1691639"/>
            <a:ext cx="18288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Pre-order: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0" name="直线"/>
          <p:cNvSpPr>
            <a:spLocks/>
          </p:cNvSpPr>
          <p:nvPr/>
        </p:nvSpPr>
        <p:spPr>
          <a:xfrm rot="0">
            <a:off x="6172200" y="2103120"/>
            <a:ext cx="5166360" cy="0"/>
          </a:xfrm>
          <a:prstGeom prst="line"/>
          <a:noFill/>
          <a:ln w="12700" cmpd="sng" cap="flat">
            <a:solidFill>
              <a:srgbClr val="AAAAAA"/>
            </a:solidFill>
            <a:prstDash val="dash"/>
            <a:round/>
          </a:ln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6172200" y="2468880"/>
            <a:ext cx="18288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In-order: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2" name="直线"/>
          <p:cNvSpPr>
            <a:spLocks/>
          </p:cNvSpPr>
          <p:nvPr/>
        </p:nvSpPr>
        <p:spPr>
          <a:xfrm rot="0">
            <a:off x="6172200" y="2880360"/>
            <a:ext cx="5166360" cy="0"/>
          </a:xfrm>
          <a:prstGeom prst="line"/>
          <a:noFill/>
          <a:ln w="12700" cmpd="sng" cap="flat">
            <a:solidFill>
              <a:srgbClr val="AAAAAA"/>
            </a:solidFill>
            <a:prstDash val="dash"/>
            <a:round/>
          </a:ln>
        </p:spPr>
      </p:sp>
      <p:sp>
        <p:nvSpPr>
          <p:cNvPr id="123" name="矩形"/>
          <p:cNvSpPr>
            <a:spLocks/>
          </p:cNvSpPr>
          <p:nvPr/>
        </p:nvSpPr>
        <p:spPr>
          <a:xfrm rot="0">
            <a:off x="6172200" y="3246120"/>
            <a:ext cx="18288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Post-order: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直线"/>
          <p:cNvSpPr>
            <a:spLocks/>
          </p:cNvSpPr>
          <p:nvPr/>
        </p:nvSpPr>
        <p:spPr>
          <a:xfrm rot="0">
            <a:off x="6172200" y="3657600"/>
            <a:ext cx="5166360" cy="0"/>
          </a:xfrm>
          <a:prstGeom prst="line"/>
          <a:noFill/>
          <a:ln w="12700" cmpd="sng" cap="flat">
            <a:solidFill>
              <a:srgbClr val="AAAAAA"/>
            </a:solidFill>
            <a:prstDash val="dash"/>
            <a:round/>
          </a:ln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6172200" y="4023359"/>
            <a:ext cx="18288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Level-order: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6" name="直线"/>
          <p:cNvSpPr>
            <a:spLocks/>
          </p:cNvSpPr>
          <p:nvPr/>
        </p:nvSpPr>
        <p:spPr>
          <a:xfrm rot="0">
            <a:off x="6172200" y="4434840"/>
            <a:ext cx="5166360" cy="0"/>
          </a:xfrm>
          <a:prstGeom prst="line"/>
          <a:noFill/>
          <a:ln w="12700" cmpd="sng" cap="flat">
            <a:solidFill>
              <a:srgbClr val="AAAAAA"/>
            </a:solidFill>
            <a:prstDash val="dash"/>
            <a:round/>
          </a:ln>
        </p:spPr>
      </p:sp>
      <p:sp>
        <p:nvSpPr>
          <p:cNvPr id="127" name="矩形"/>
          <p:cNvSpPr>
            <a:spLocks/>
          </p:cNvSpPr>
          <p:nvPr/>
        </p:nvSpPr>
        <p:spPr>
          <a:xfrm rot="0">
            <a:off x="548640" y="5486400"/>
            <a:ext cx="539496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66666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Tip: this is a Binary Search Tree — in-order will come out sorted.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3094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圆角矩形"/>
          <p:cNvSpPr>
            <a:spLocks/>
          </p:cNvSpPr>
          <p:nvPr/>
        </p:nvSpPr>
        <p:spPr>
          <a:xfrm rot="0">
            <a:off x="0" y="0"/>
            <a:ext cx="12188953" cy="822960"/>
          </a:xfrm>
          <a:prstGeom prst="roundRect">
            <a:avLst>
              <a:gd name="adj" fmla="val 16666"/>
            </a:avLst>
          </a:prstGeom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32" name="矩形"/>
          <p:cNvSpPr>
            <a:spLocks/>
          </p:cNvSpPr>
          <p:nvPr/>
        </p:nvSpPr>
        <p:spPr>
          <a:xfrm rot="0">
            <a:off x="548640" y="109728"/>
            <a:ext cx="4572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Challenge 2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矩形"/>
          <p:cNvSpPr>
            <a:spLocks/>
          </p:cNvSpPr>
          <p:nvPr/>
        </p:nvSpPr>
        <p:spPr>
          <a:xfrm rot="0">
            <a:off x="548640" y="502919"/>
            <a:ext cx="7315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15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TRACE A LEVEL-ORDER (BFS) SCAN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548640" y="1051560"/>
            <a:ext cx="5394960" cy="1188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1E2B1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 the keys 45, 20, 78, 10, 30, 60, 90, 5 one at a time into an empty BST. Draw the resulting tree, then write its level-order traversal.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5" name="圆角矩形"/>
          <p:cNvSpPr>
            <a:spLocks/>
          </p:cNvSpPr>
          <p:nvPr/>
        </p:nvSpPr>
        <p:spPr>
          <a:xfrm rot="0">
            <a:off x="548640" y="2377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136" name="矩形"/>
          <p:cNvSpPr>
            <a:spLocks/>
          </p:cNvSpPr>
          <p:nvPr/>
        </p:nvSpPr>
        <p:spPr>
          <a:xfrm rot="0">
            <a:off x="777240" y="2514600"/>
            <a:ext cx="4937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Insertion order: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 rot="0">
            <a:off x="777240" y="2834640"/>
            <a:ext cx="493776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E2B1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45 → 20 → 78 → 10 → 30 → 60 → 90 → 5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777240" y="3337560"/>
            <a:ext cx="4937760" cy="4114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1" u="none" strike="noStrike" kern="1200" cap="none" spc="0" baseline="0">
                <a:solidFill>
                  <a:srgbClr val="66666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Rule: smaller keys go left, larger keys go right of each node.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圆角矩形"/>
          <p:cNvSpPr>
            <a:spLocks/>
          </p:cNvSpPr>
          <p:nvPr/>
        </p:nvSpPr>
        <p:spPr>
          <a:xfrm rot="0">
            <a:off x="548640" y="4023359"/>
            <a:ext cx="5394960" cy="822960"/>
          </a:xfrm>
          <a:prstGeom prst="roundRect">
            <a:avLst>
              <a:gd name="adj" fmla="val 8888"/>
            </a:avLst>
          </a:prstGeom>
          <a:solidFill>
            <a:srgbClr val="2C5F2D"/>
          </a:solidFill>
          <a:ln w="12700" cmpd="sng" cap="flat">
            <a:noFill/>
            <a:prstDash val="solid"/>
            <a:miter/>
          </a:ln>
        </p:spPr>
      </p:sp>
      <p:sp>
        <p:nvSpPr>
          <p:cNvPr id="140" name="矩形"/>
          <p:cNvSpPr>
            <a:spLocks/>
          </p:cNvSpPr>
          <p:nvPr/>
        </p:nvSpPr>
        <p:spPr>
          <a:xfrm rot="0">
            <a:off x="777240" y="4114800"/>
            <a:ext cx="493776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1" i="0" u="none" strike="noStrike" kern="1200" cap="none" spc="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Level-order answer: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直线"/>
          <p:cNvSpPr>
            <a:spLocks/>
          </p:cNvSpPr>
          <p:nvPr/>
        </p:nvSpPr>
        <p:spPr>
          <a:xfrm rot="0">
            <a:off x="777240" y="4709160"/>
            <a:ext cx="4937760" cy="0"/>
          </a:xfrm>
          <a:prstGeom prst="line"/>
          <a:noFill/>
          <a:ln w="12700" cmpd="sng" cap="flat">
            <a:solidFill>
              <a:srgbClr val="FFFFFF"/>
            </a:solidFill>
            <a:prstDash val="dash"/>
            <a:round/>
          </a:ln>
        </p:spPr>
      </p:sp>
      <p:sp>
        <p:nvSpPr>
          <p:cNvPr id="142" name="圆角矩形"/>
          <p:cNvSpPr>
            <a:spLocks/>
          </p:cNvSpPr>
          <p:nvPr/>
        </p:nvSpPr>
        <p:spPr>
          <a:xfrm rot="0">
            <a:off x="6400800" y="1051560"/>
            <a:ext cx="5212080" cy="3794760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15875" cmpd="sng" cap="flat">
            <a:solidFill>
              <a:srgbClr val="97BC62"/>
            </a:solidFill>
            <a:prstDash val="dash"/>
            <a:round/>
          </a:ln>
        </p:spPr>
      </p:sp>
      <p:sp>
        <p:nvSpPr>
          <p:cNvPr id="143" name="矩形"/>
          <p:cNvSpPr>
            <a:spLocks/>
          </p:cNvSpPr>
          <p:nvPr/>
        </p:nvSpPr>
        <p:spPr>
          <a:xfrm rot="0">
            <a:off x="6400800" y="1188720"/>
            <a:ext cx="475488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50" b="0" i="1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Sketch your tree here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4" name="椭圆"/>
          <p:cNvSpPr>
            <a:spLocks/>
          </p:cNvSpPr>
          <p:nvPr/>
        </p:nvSpPr>
        <p:spPr>
          <a:xfrm rot="0">
            <a:off x="6766559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45" name="椭圆"/>
          <p:cNvSpPr>
            <a:spLocks/>
          </p:cNvSpPr>
          <p:nvPr/>
        </p:nvSpPr>
        <p:spPr>
          <a:xfrm rot="0">
            <a:off x="6766559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46" name="椭圆"/>
          <p:cNvSpPr>
            <a:spLocks/>
          </p:cNvSpPr>
          <p:nvPr/>
        </p:nvSpPr>
        <p:spPr>
          <a:xfrm rot="0">
            <a:off x="6766559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47" name="椭圆"/>
          <p:cNvSpPr>
            <a:spLocks/>
          </p:cNvSpPr>
          <p:nvPr/>
        </p:nvSpPr>
        <p:spPr>
          <a:xfrm rot="0">
            <a:off x="6766559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48" name="椭圆"/>
          <p:cNvSpPr>
            <a:spLocks/>
          </p:cNvSpPr>
          <p:nvPr/>
        </p:nvSpPr>
        <p:spPr>
          <a:xfrm rot="0">
            <a:off x="7635240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49" name="椭圆"/>
          <p:cNvSpPr>
            <a:spLocks/>
          </p:cNvSpPr>
          <p:nvPr/>
        </p:nvSpPr>
        <p:spPr>
          <a:xfrm rot="0">
            <a:off x="7635240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0" name="椭圆"/>
          <p:cNvSpPr>
            <a:spLocks/>
          </p:cNvSpPr>
          <p:nvPr/>
        </p:nvSpPr>
        <p:spPr>
          <a:xfrm rot="0">
            <a:off x="7635240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1" name="椭圆"/>
          <p:cNvSpPr>
            <a:spLocks/>
          </p:cNvSpPr>
          <p:nvPr/>
        </p:nvSpPr>
        <p:spPr>
          <a:xfrm rot="0">
            <a:off x="7635240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2" name="椭圆"/>
          <p:cNvSpPr>
            <a:spLocks/>
          </p:cNvSpPr>
          <p:nvPr/>
        </p:nvSpPr>
        <p:spPr>
          <a:xfrm rot="0">
            <a:off x="8503920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3" name="椭圆"/>
          <p:cNvSpPr>
            <a:spLocks/>
          </p:cNvSpPr>
          <p:nvPr/>
        </p:nvSpPr>
        <p:spPr>
          <a:xfrm rot="0">
            <a:off x="8503920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4" name="椭圆"/>
          <p:cNvSpPr>
            <a:spLocks/>
          </p:cNvSpPr>
          <p:nvPr/>
        </p:nvSpPr>
        <p:spPr>
          <a:xfrm rot="0">
            <a:off x="8503920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5" name="椭圆"/>
          <p:cNvSpPr>
            <a:spLocks/>
          </p:cNvSpPr>
          <p:nvPr/>
        </p:nvSpPr>
        <p:spPr>
          <a:xfrm rot="0">
            <a:off x="8503920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6" name="椭圆"/>
          <p:cNvSpPr>
            <a:spLocks/>
          </p:cNvSpPr>
          <p:nvPr/>
        </p:nvSpPr>
        <p:spPr>
          <a:xfrm rot="0">
            <a:off x="9372600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7" name="椭圆"/>
          <p:cNvSpPr>
            <a:spLocks/>
          </p:cNvSpPr>
          <p:nvPr/>
        </p:nvSpPr>
        <p:spPr>
          <a:xfrm rot="0">
            <a:off x="9372600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8" name="椭圆"/>
          <p:cNvSpPr>
            <a:spLocks/>
          </p:cNvSpPr>
          <p:nvPr/>
        </p:nvSpPr>
        <p:spPr>
          <a:xfrm rot="0">
            <a:off x="9372600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59" name="椭圆"/>
          <p:cNvSpPr>
            <a:spLocks/>
          </p:cNvSpPr>
          <p:nvPr/>
        </p:nvSpPr>
        <p:spPr>
          <a:xfrm rot="0">
            <a:off x="9372600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0" name="椭圆"/>
          <p:cNvSpPr>
            <a:spLocks/>
          </p:cNvSpPr>
          <p:nvPr/>
        </p:nvSpPr>
        <p:spPr>
          <a:xfrm rot="0">
            <a:off x="10241281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1" name="椭圆"/>
          <p:cNvSpPr>
            <a:spLocks/>
          </p:cNvSpPr>
          <p:nvPr/>
        </p:nvSpPr>
        <p:spPr>
          <a:xfrm rot="0">
            <a:off x="10241281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2" name="椭圆"/>
          <p:cNvSpPr>
            <a:spLocks/>
          </p:cNvSpPr>
          <p:nvPr/>
        </p:nvSpPr>
        <p:spPr>
          <a:xfrm rot="0">
            <a:off x="10241281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3" name="椭圆"/>
          <p:cNvSpPr>
            <a:spLocks/>
          </p:cNvSpPr>
          <p:nvPr/>
        </p:nvSpPr>
        <p:spPr>
          <a:xfrm rot="0">
            <a:off x="10241281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4" name="椭圆"/>
          <p:cNvSpPr>
            <a:spLocks/>
          </p:cNvSpPr>
          <p:nvPr/>
        </p:nvSpPr>
        <p:spPr>
          <a:xfrm rot="0">
            <a:off x="11109961" y="173736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5" name="椭圆"/>
          <p:cNvSpPr>
            <a:spLocks/>
          </p:cNvSpPr>
          <p:nvPr/>
        </p:nvSpPr>
        <p:spPr>
          <a:xfrm rot="0">
            <a:off x="11109961" y="251460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6" name="椭圆"/>
          <p:cNvSpPr>
            <a:spLocks/>
          </p:cNvSpPr>
          <p:nvPr/>
        </p:nvSpPr>
        <p:spPr>
          <a:xfrm rot="0">
            <a:off x="11109961" y="329184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7" name="椭圆"/>
          <p:cNvSpPr>
            <a:spLocks/>
          </p:cNvSpPr>
          <p:nvPr/>
        </p:nvSpPr>
        <p:spPr>
          <a:xfrm rot="0">
            <a:off x="11109961" y="4069080"/>
            <a:ext cx="45719" cy="45720"/>
          </a:xfrm>
          <a:prstGeom prst="ellipse"/>
          <a:solidFill>
            <a:srgbClr val="DDDDDD"/>
          </a:solidFill>
          <a:ln w="12700" cmpd="sng" cap="flat">
            <a:solidFill>
              <a:srgbClr val="DDDDDD"/>
            </a:solidFill>
            <a:prstDash val="solid"/>
            <a:round/>
          </a:ln>
        </p:spPr>
      </p:sp>
      <p:sp>
        <p:nvSpPr>
          <p:cNvPr id="168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20375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圆角矩形"/>
          <p:cNvSpPr>
            <a:spLocks/>
          </p:cNvSpPr>
          <p:nvPr/>
        </p:nvSpPr>
        <p:spPr>
          <a:xfrm rot="0">
            <a:off x="0" y="0"/>
            <a:ext cx="12188953" cy="822960"/>
          </a:xfrm>
          <a:prstGeom prst="roundRect">
            <a:avLst>
              <a:gd name="adj" fmla="val 16666"/>
            </a:avLst>
          </a:prstGeom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72" name="矩形"/>
          <p:cNvSpPr>
            <a:spLocks/>
          </p:cNvSpPr>
          <p:nvPr/>
        </p:nvSpPr>
        <p:spPr>
          <a:xfrm rot="0">
            <a:off x="548640" y="109728"/>
            <a:ext cx="4572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Challenge 3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548640" y="502919"/>
            <a:ext cx="7315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15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REBUILD THE TREE FROM TRAVERSALS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 rot="0">
            <a:off x="548640" y="1051560"/>
            <a:ext cx="10881359" cy="4571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0" i="0" u="none" strike="noStrike" kern="1200" cap="none" spc="0" baseline="0">
                <a:solidFill>
                  <a:srgbClr val="1E2B14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Given the Pre-order and In-order sequences below, reconstruct the unique binary tree they came from.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5" name="圆角矩形"/>
          <p:cNvSpPr>
            <a:spLocks/>
          </p:cNvSpPr>
          <p:nvPr/>
        </p:nvSpPr>
        <p:spPr>
          <a:xfrm rot="0">
            <a:off x="548640" y="16459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176" name="矩形"/>
          <p:cNvSpPr>
            <a:spLocks/>
          </p:cNvSpPr>
          <p:nvPr/>
        </p:nvSpPr>
        <p:spPr>
          <a:xfrm rot="0">
            <a:off x="777240" y="1783080"/>
            <a:ext cx="502920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Pre-order:  </a:t>
            </a:r>
            <a:r>
              <a:rPr lang="en-US" altLang="zh-CN" sz="1300" b="0" i="0" u="none" strike="noStrike" kern="1200" cap="none" spc="0" baseline="0">
                <a:solidFill>
                  <a:srgbClr val="1E2B1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M, E, C, A, D, L, H, R, P
</a:t>
            </a:r>
            <a:r>
              <a:rPr lang="en-US" altLang="zh-CN" sz="1300" b="1" i="0" u="none" strike="noStrike" kern="1200" cap="none" spc="0" baseline="0">
                <a:solidFill>
                  <a:srgbClr val="2C5F2D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In-order:  </a:t>
            </a:r>
            <a:r>
              <a:rPr lang="en-US" altLang="zh-CN" sz="1300" b="0" i="0" u="none" strike="noStrike" kern="1200" cap="none" spc="0" baseline="0">
                <a:solidFill>
                  <a:srgbClr val="1E2B1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A, C, D, E, H, L, M, P, R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7" name="圆角矩形"/>
          <p:cNvSpPr>
            <a:spLocks/>
          </p:cNvSpPr>
          <p:nvPr/>
        </p:nvSpPr>
        <p:spPr>
          <a:xfrm rot="0">
            <a:off x="548640" y="3200400"/>
            <a:ext cx="5486400" cy="1737360"/>
          </a:xfrm>
          <a:prstGeom prst="roundRect">
            <a:avLst>
              <a:gd name="adj" fmla="val 4212"/>
            </a:avLst>
          </a:prstGeom>
          <a:solidFill>
            <a:srgbClr val="FFFFFF"/>
          </a:solidFill>
          <a:ln w="15875" cmpd="sng" cap="flat">
            <a:solidFill>
              <a:srgbClr val="97BC62"/>
            </a:solidFill>
            <a:prstDash val="dash"/>
            <a:round/>
          </a:ln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777240" y="3310127"/>
            <a:ext cx="5029200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Hint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777240" y="3611880"/>
            <a:ext cx="5029200" cy="12344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429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15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1.  The first item of Pre-order is always the root.
</a:t>
            </a:r>
            <a:r>
              <a:rPr lang="en-US" altLang="zh-CN" sz="115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2.  Find that root in In-order — everything left of it is the left subtree, everything right is the right subtree.
</a:t>
            </a:r>
            <a:r>
              <a:rPr lang="en-US" altLang="zh-CN" sz="115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3.  Repeat recursively for each subtree.</a:t>
            </a:r>
            <a:endParaRPr lang="zh-CN" altLang="en-US" sz="11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6492240" y="1645920"/>
            <a:ext cx="3657599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Solution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直线"/>
          <p:cNvSpPr>
            <a:spLocks/>
          </p:cNvSpPr>
          <p:nvPr/>
        </p:nvSpPr>
        <p:spPr>
          <a:xfrm flipH="1" rot="0">
            <a:off x="7955280" y="2514600"/>
            <a:ext cx="1005840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2" name="直线"/>
          <p:cNvSpPr>
            <a:spLocks/>
          </p:cNvSpPr>
          <p:nvPr/>
        </p:nvSpPr>
        <p:spPr>
          <a:xfrm rot="0">
            <a:off x="8961120" y="2514600"/>
            <a:ext cx="1097280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3" name="直线"/>
          <p:cNvSpPr>
            <a:spLocks/>
          </p:cNvSpPr>
          <p:nvPr/>
        </p:nvSpPr>
        <p:spPr>
          <a:xfrm flipH="1" rot="0">
            <a:off x="7315200" y="3291840"/>
            <a:ext cx="640080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4" name="直线"/>
          <p:cNvSpPr>
            <a:spLocks/>
          </p:cNvSpPr>
          <p:nvPr/>
        </p:nvSpPr>
        <p:spPr>
          <a:xfrm rot="0">
            <a:off x="7955280" y="3291840"/>
            <a:ext cx="731519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5" name="直线"/>
          <p:cNvSpPr>
            <a:spLocks/>
          </p:cNvSpPr>
          <p:nvPr/>
        </p:nvSpPr>
        <p:spPr>
          <a:xfrm rot="0">
            <a:off x="10058401" y="3291840"/>
            <a:ext cx="548639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6" name="直线"/>
          <p:cNvSpPr>
            <a:spLocks/>
          </p:cNvSpPr>
          <p:nvPr/>
        </p:nvSpPr>
        <p:spPr>
          <a:xfrm flipH="1" rot="0">
            <a:off x="6858000" y="4069080"/>
            <a:ext cx="457200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7" name="直线"/>
          <p:cNvSpPr>
            <a:spLocks/>
          </p:cNvSpPr>
          <p:nvPr/>
        </p:nvSpPr>
        <p:spPr>
          <a:xfrm rot="0">
            <a:off x="7315200" y="4069080"/>
            <a:ext cx="457200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8" name="直线"/>
          <p:cNvSpPr>
            <a:spLocks/>
          </p:cNvSpPr>
          <p:nvPr/>
        </p:nvSpPr>
        <p:spPr>
          <a:xfrm rot="0">
            <a:off x="8686800" y="4069080"/>
            <a:ext cx="365759" cy="320040"/>
          </a:xfrm>
          <a:prstGeom prst="line"/>
          <a:noFill/>
          <a:ln w="19050" cmpd="sng" cap="flat">
            <a:solidFill>
              <a:srgbClr val="8A8A8A"/>
            </a:solidFill>
            <a:prstDash val="solid"/>
            <a:round/>
          </a:ln>
        </p:spPr>
      </p:sp>
      <p:sp>
        <p:nvSpPr>
          <p:cNvPr id="189" name="椭圆"/>
          <p:cNvSpPr>
            <a:spLocks/>
          </p:cNvSpPr>
          <p:nvPr/>
        </p:nvSpPr>
        <p:spPr>
          <a:xfrm rot="0">
            <a:off x="8732520" y="205740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90" name="矩形"/>
          <p:cNvSpPr>
            <a:spLocks/>
          </p:cNvSpPr>
          <p:nvPr/>
        </p:nvSpPr>
        <p:spPr>
          <a:xfrm rot="0">
            <a:off x="8732520" y="205740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M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椭圆"/>
          <p:cNvSpPr>
            <a:spLocks/>
          </p:cNvSpPr>
          <p:nvPr/>
        </p:nvSpPr>
        <p:spPr>
          <a:xfrm rot="0">
            <a:off x="7726680" y="283464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92" name="矩形"/>
          <p:cNvSpPr>
            <a:spLocks/>
          </p:cNvSpPr>
          <p:nvPr/>
        </p:nvSpPr>
        <p:spPr>
          <a:xfrm rot="0">
            <a:off x="7726680" y="28346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椭圆"/>
          <p:cNvSpPr>
            <a:spLocks/>
          </p:cNvSpPr>
          <p:nvPr/>
        </p:nvSpPr>
        <p:spPr>
          <a:xfrm rot="0">
            <a:off x="9829800" y="283464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94" name="矩形"/>
          <p:cNvSpPr>
            <a:spLocks/>
          </p:cNvSpPr>
          <p:nvPr/>
        </p:nvSpPr>
        <p:spPr>
          <a:xfrm rot="0">
            <a:off x="9829800" y="283464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5" name="椭圆"/>
          <p:cNvSpPr>
            <a:spLocks/>
          </p:cNvSpPr>
          <p:nvPr/>
        </p:nvSpPr>
        <p:spPr>
          <a:xfrm rot="0">
            <a:off x="7086600" y="361188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96" name="矩形"/>
          <p:cNvSpPr>
            <a:spLocks/>
          </p:cNvSpPr>
          <p:nvPr/>
        </p:nvSpPr>
        <p:spPr>
          <a:xfrm rot="0">
            <a:off x="7086600" y="36118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C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7" name="椭圆"/>
          <p:cNvSpPr>
            <a:spLocks/>
          </p:cNvSpPr>
          <p:nvPr/>
        </p:nvSpPr>
        <p:spPr>
          <a:xfrm rot="0">
            <a:off x="8458200" y="361188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198" name="矩形"/>
          <p:cNvSpPr>
            <a:spLocks/>
          </p:cNvSpPr>
          <p:nvPr/>
        </p:nvSpPr>
        <p:spPr>
          <a:xfrm rot="0">
            <a:off x="8458200" y="36118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L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椭圆"/>
          <p:cNvSpPr>
            <a:spLocks/>
          </p:cNvSpPr>
          <p:nvPr/>
        </p:nvSpPr>
        <p:spPr>
          <a:xfrm rot="0">
            <a:off x="10378440" y="361188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00" name="矩形"/>
          <p:cNvSpPr>
            <a:spLocks/>
          </p:cNvSpPr>
          <p:nvPr/>
        </p:nvSpPr>
        <p:spPr>
          <a:xfrm rot="0">
            <a:off x="10378440" y="361188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1" name="椭圆"/>
          <p:cNvSpPr>
            <a:spLocks/>
          </p:cNvSpPr>
          <p:nvPr/>
        </p:nvSpPr>
        <p:spPr>
          <a:xfrm rot="0">
            <a:off x="6629400" y="438912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02" name="矩形"/>
          <p:cNvSpPr>
            <a:spLocks/>
          </p:cNvSpPr>
          <p:nvPr/>
        </p:nvSpPr>
        <p:spPr>
          <a:xfrm rot="0">
            <a:off x="6629400" y="43891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椭圆"/>
          <p:cNvSpPr>
            <a:spLocks/>
          </p:cNvSpPr>
          <p:nvPr/>
        </p:nvSpPr>
        <p:spPr>
          <a:xfrm rot="0">
            <a:off x="7543800" y="438912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04" name="矩形"/>
          <p:cNvSpPr>
            <a:spLocks/>
          </p:cNvSpPr>
          <p:nvPr/>
        </p:nvSpPr>
        <p:spPr>
          <a:xfrm rot="0">
            <a:off x="7543800" y="43891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D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5" name="椭圆"/>
          <p:cNvSpPr>
            <a:spLocks/>
          </p:cNvSpPr>
          <p:nvPr/>
        </p:nvSpPr>
        <p:spPr>
          <a:xfrm rot="0">
            <a:off x="8823960" y="4389120"/>
            <a:ext cx="457200" cy="45720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06" name="矩形"/>
          <p:cNvSpPr>
            <a:spLocks/>
          </p:cNvSpPr>
          <p:nvPr/>
        </p:nvSpPr>
        <p:spPr>
          <a:xfrm rot="0">
            <a:off x="8823960" y="4389120"/>
            <a:ext cx="4572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H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7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05669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"/>
          <p:cNvSpPr>
            <a:spLocks/>
          </p:cNvSpPr>
          <p:nvPr/>
        </p:nvSpPr>
        <p:spPr>
          <a:xfrm rot="0">
            <a:off x="548640" y="365760"/>
            <a:ext cx="10058401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Practice Tools · Interactive Visualizers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1" name="矩形"/>
          <p:cNvSpPr>
            <a:spLocks/>
          </p:cNvSpPr>
          <p:nvPr/>
        </p:nvSpPr>
        <p:spPr>
          <a:xfrm rot="0">
            <a:off x="548640" y="914400"/>
            <a:ext cx="9144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66666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See traversal paths animate through the tree in real time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2" name="圆角矩形"/>
          <p:cNvSpPr>
            <a:spLocks/>
          </p:cNvSpPr>
          <p:nvPr/>
        </p:nvSpPr>
        <p:spPr>
          <a:xfrm rot="0">
            <a:off x="548640" y="1508759"/>
            <a:ext cx="3611879" cy="420624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213" name="椭圆"/>
          <p:cNvSpPr>
            <a:spLocks/>
          </p:cNvSpPr>
          <p:nvPr/>
        </p:nvSpPr>
        <p:spPr>
          <a:xfrm rot="0">
            <a:off x="822960" y="1783080"/>
            <a:ext cx="502919" cy="502919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14" name="矩形"/>
          <p:cNvSpPr>
            <a:spLocks/>
          </p:cNvSpPr>
          <p:nvPr/>
        </p:nvSpPr>
        <p:spPr>
          <a:xfrm rot="0">
            <a:off x="822960" y="1783080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1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5" name="矩形"/>
          <p:cNvSpPr>
            <a:spLocks/>
          </p:cNvSpPr>
          <p:nvPr/>
        </p:nvSpPr>
        <p:spPr>
          <a:xfrm rot="0">
            <a:off x="822960" y="2423160"/>
            <a:ext cx="306324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VisuAlgo — Binary Search Tree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6" name="矩形"/>
          <p:cNvSpPr>
            <a:spLocks/>
          </p:cNvSpPr>
          <p:nvPr/>
        </p:nvSpPr>
        <p:spPr>
          <a:xfrm rot="0">
            <a:off x="822960" y="3200400"/>
            <a:ext cx="306324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Build a custom tree, pick Pre / In / Post / Level-order, and watch an animated highlight step through every node.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7" name="圆角矩形"/>
          <p:cNvSpPr>
            <a:spLocks/>
          </p:cNvSpPr>
          <p:nvPr/>
        </p:nvSpPr>
        <p:spPr>
          <a:xfrm rot="0">
            <a:off x="4434840" y="1508759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218" name="椭圆"/>
          <p:cNvSpPr>
            <a:spLocks/>
          </p:cNvSpPr>
          <p:nvPr/>
        </p:nvSpPr>
        <p:spPr>
          <a:xfrm rot="0">
            <a:off x="4709160" y="1783080"/>
            <a:ext cx="502919" cy="502919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19" name="矩形"/>
          <p:cNvSpPr>
            <a:spLocks/>
          </p:cNvSpPr>
          <p:nvPr/>
        </p:nvSpPr>
        <p:spPr>
          <a:xfrm rot="0">
            <a:off x="4709160" y="1783080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2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0" name="矩形"/>
          <p:cNvSpPr>
            <a:spLocks/>
          </p:cNvSpPr>
          <p:nvPr/>
        </p:nvSpPr>
        <p:spPr>
          <a:xfrm rot="0">
            <a:off x="4709160" y="2423160"/>
            <a:ext cx="306324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Binary Tree Visualizer &amp; Converter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4709160" y="3200400"/>
            <a:ext cx="306324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Type an array or a list of nodes to instantly see the tree drawn out along with its calculated traversal outputs.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2" name="圆角矩形"/>
          <p:cNvSpPr>
            <a:spLocks/>
          </p:cNvSpPr>
          <p:nvPr/>
        </p:nvSpPr>
        <p:spPr>
          <a:xfrm rot="0">
            <a:off x="8321040" y="1508759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223" name="椭圆"/>
          <p:cNvSpPr>
            <a:spLocks/>
          </p:cNvSpPr>
          <p:nvPr/>
        </p:nvSpPr>
        <p:spPr>
          <a:xfrm rot="0">
            <a:off x="8595360" y="1783080"/>
            <a:ext cx="502919" cy="502919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24" name="矩形"/>
          <p:cNvSpPr>
            <a:spLocks/>
          </p:cNvSpPr>
          <p:nvPr/>
        </p:nvSpPr>
        <p:spPr>
          <a:xfrm rot="0">
            <a:off x="8595360" y="1783080"/>
            <a:ext cx="502919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3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5" name="矩形"/>
          <p:cNvSpPr>
            <a:spLocks/>
          </p:cNvSpPr>
          <p:nvPr/>
        </p:nvSpPr>
        <p:spPr>
          <a:xfrm rot="0">
            <a:off x="8595360" y="2423160"/>
            <a:ext cx="3063240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Data Structure Visualizations (USF)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8595360" y="3200400"/>
            <a:ext cx="306324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Insert nodes one at a time and manually trace each traversal's execution step by step.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7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843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"/>
          <p:cNvSpPr>
            <a:spLocks/>
          </p:cNvSpPr>
          <p:nvPr/>
        </p:nvSpPr>
        <p:spPr>
          <a:xfrm rot="0">
            <a:off x="548640" y="365760"/>
            <a:ext cx="10515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Practice Tools · Auto-Generation for Unlimited Practice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1" name="矩形"/>
          <p:cNvSpPr>
            <a:spLocks/>
          </p:cNvSpPr>
          <p:nvPr/>
        </p:nvSpPr>
        <p:spPr>
          <a:xfrm rot="0">
            <a:off x="548640" y="914400"/>
            <a:ext cx="9144000" cy="320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1" u="none" strike="noStrike" kern="1200" cap="none" spc="0" baseline="0">
                <a:solidFill>
                  <a:srgbClr val="666666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Fresh, algorithmic mock questions whenever you need more reps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2" name="圆角矩形"/>
          <p:cNvSpPr>
            <a:spLocks/>
          </p:cNvSpPr>
          <p:nvPr/>
        </p:nvSpPr>
        <p:spPr>
          <a:xfrm rot="0">
            <a:off x="548640" y="1554480"/>
            <a:ext cx="11064240" cy="1691639"/>
          </a:xfrm>
          <a:prstGeom prst="roundRect">
            <a:avLst>
              <a:gd name="adj" fmla="val 5402"/>
            </a:avLst>
          </a:prstGeom>
          <a:solidFill>
            <a:srgbClr val="F5F5F5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233" name="椭圆"/>
          <p:cNvSpPr>
            <a:spLocks/>
          </p:cNvSpPr>
          <p:nvPr/>
        </p:nvSpPr>
        <p:spPr>
          <a:xfrm rot="0">
            <a:off x="868680" y="2103120"/>
            <a:ext cx="548640" cy="54864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34" name="矩形"/>
          <p:cNvSpPr>
            <a:spLocks/>
          </p:cNvSpPr>
          <p:nvPr/>
        </p:nvSpPr>
        <p:spPr>
          <a:xfrm rot="0">
            <a:off x="868680" y="210312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5" name="矩形"/>
          <p:cNvSpPr>
            <a:spLocks/>
          </p:cNvSpPr>
          <p:nvPr/>
        </p:nvSpPr>
        <p:spPr>
          <a:xfrm rot="0">
            <a:off x="1828800" y="1783080"/>
            <a:ext cx="9052561" cy="365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LeetCode Tree Visualizer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6" name="矩形"/>
          <p:cNvSpPr>
            <a:spLocks/>
          </p:cNvSpPr>
          <p:nvPr/>
        </p:nvSpPr>
        <p:spPr>
          <a:xfrm rot="0">
            <a:off x="1828800" y="2240280"/>
            <a:ext cx="9052561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Paste a LeetCode-serialized tree string, e.g. [1, null, 2, 3], and it renders a clean layout you can use to sketch out custom traversal paths.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7" name="圆角矩形"/>
          <p:cNvSpPr>
            <a:spLocks/>
          </p:cNvSpPr>
          <p:nvPr/>
        </p:nvSpPr>
        <p:spPr>
          <a:xfrm rot="0">
            <a:off x="548640" y="3520440"/>
            <a:ext cx="11064240" cy="1691639"/>
          </a:xfrm>
          <a:prstGeom prst="roundRect">
            <a:avLst>
              <a:gd name="adj" fmla="val 5402"/>
            </a:avLst>
          </a:prstGeom>
          <a:solidFill>
            <a:srgbClr val="FFFFFF"/>
          </a:solidFill>
          <a:ln w="9525" cmpd="sng" cap="flat">
            <a:solidFill>
              <a:srgbClr val="E0E0E0"/>
            </a:solidFill>
            <a:prstDash val="solid"/>
            <a:round/>
          </a:ln>
        </p:spPr>
      </p:sp>
      <p:sp>
        <p:nvSpPr>
          <p:cNvPr id="238" name="椭圆"/>
          <p:cNvSpPr>
            <a:spLocks/>
          </p:cNvSpPr>
          <p:nvPr/>
        </p:nvSpPr>
        <p:spPr>
          <a:xfrm rot="0">
            <a:off x="868680" y="4069080"/>
            <a:ext cx="548640" cy="548640"/>
          </a:xfrm>
          <a:prstGeom prst="ellipse"/>
          <a:solidFill>
            <a:srgbClr val="2C5F2D"/>
          </a:solidFill>
          <a:ln w="12700" cmpd="sng" cap="flat">
            <a:solidFill>
              <a:srgbClr val="2C5F2D"/>
            </a:solidFill>
            <a:prstDash val="solid"/>
            <a:round/>
          </a:ln>
        </p:spPr>
      </p:sp>
      <p:sp>
        <p:nvSpPr>
          <p:cNvPr id="239" name="矩形"/>
          <p:cNvSpPr>
            <a:spLocks/>
          </p:cNvSpPr>
          <p:nvPr/>
        </p:nvSpPr>
        <p:spPr>
          <a:xfrm rot="0">
            <a:off x="868680" y="4069080"/>
            <a:ext cx="54864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r>
            <a:endParaRPr lang="zh-CN" altLang="en-US" sz="2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0" name="矩形"/>
          <p:cNvSpPr>
            <a:spLocks/>
          </p:cNvSpPr>
          <p:nvPr/>
        </p:nvSpPr>
        <p:spPr>
          <a:xfrm rot="0">
            <a:off x="1828800" y="3749040"/>
            <a:ext cx="9052561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1E2B14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Virtual Labs (IIT Hyderabad)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1" name="矩形"/>
          <p:cNvSpPr>
            <a:spLocks/>
          </p:cNvSpPr>
          <p:nvPr/>
        </p:nvSpPr>
        <p:spPr>
          <a:xfrm rot="0">
            <a:off x="1828800" y="4206240"/>
            <a:ext cx="9052561" cy="8229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55555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A government-supported interactive lab simulator that quizzes you by making you click the nodes of a randomized tree in the correct traversal sequence.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2" name="圆角矩形"/>
          <p:cNvSpPr>
            <a:spLocks/>
          </p:cNvSpPr>
          <p:nvPr/>
        </p:nvSpPr>
        <p:spPr>
          <a:xfrm rot="0"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12700" cmpd="sng" cap="flat">
            <a:noFill/>
            <a:prstDash val="solid"/>
            <a:miter/>
          </a:ln>
        </p:spPr>
      </p:sp>
      <p:sp>
        <p:nvSpPr>
          <p:cNvPr id="243" name="矩形"/>
          <p:cNvSpPr>
            <a:spLocks/>
          </p:cNvSpPr>
          <p:nvPr/>
        </p:nvSpPr>
        <p:spPr>
          <a:xfrm rot="0">
            <a:off x="822960" y="5623560"/>
            <a:ext cx="10515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1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Practice cycle: generate a random tree → predict all four traversals yourself → check against the visualizer → repeat with a harder tree.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548640" y="6537960"/>
            <a:ext cx="54864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999999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Slide by K. Anil Kumar Reddy · 192525249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87123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直线"/>
          <p:cNvSpPr>
            <a:spLocks/>
          </p:cNvSpPr>
          <p:nvPr/>
        </p:nvSpPr>
        <p:spPr>
          <a:xfrm flipH="1" rot="0">
            <a:off x="9966960" y="5321808"/>
            <a:ext cx="640080" cy="42062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48" name="直线"/>
          <p:cNvSpPr>
            <a:spLocks/>
          </p:cNvSpPr>
          <p:nvPr/>
        </p:nvSpPr>
        <p:spPr>
          <a:xfrm rot="0">
            <a:off x="10607040" y="5321808"/>
            <a:ext cx="640080" cy="42062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49" name="直线"/>
          <p:cNvSpPr>
            <a:spLocks/>
          </p:cNvSpPr>
          <p:nvPr/>
        </p:nvSpPr>
        <p:spPr>
          <a:xfrm flipH="1" rot="0">
            <a:off x="9601200" y="5961887"/>
            <a:ext cx="365760" cy="37490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50" name="直线"/>
          <p:cNvSpPr>
            <a:spLocks/>
          </p:cNvSpPr>
          <p:nvPr/>
        </p:nvSpPr>
        <p:spPr>
          <a:xfrm rot="0">
            <a:off x="9966960" y="5961887"/>
            <a:ext cx="365760" cy="37490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51" name="直线"/>
          <p:cNvSpPr>
            <a:spLocks/>
          </p:cNvSpPr>
          <p:nvPr/>
        </p:nvSpPr>
        <p:spPr>
          <a:xfrm flipH="1" rot="0">
            <a:off x="10881359" y="5961887"/>
            <a:ext cx="365760" cy="37490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52" name="直线"/>
          <p:cNvSpPr>
            <a:spLocks/>
          </p:cNvSpPr>
          <p:nvPr/>
        </p:nvSpPr>
        <p:spPr>
          <a:xfrm rot="0">
            <a:off x="11247120" y="5961887"/>
            <a:ext cx="365760" cy="374903"/>
          </a:xfrm>
          <a:prstGeom prst="line"/>
          <a:noFill/>
          <a:ln w="19050" cmpd="sng" cap="flat">
            <a:solidFill>
              <a:srgbClr val="5C8A4A"/>
            </a:solidFill>
            <a:prstDash val="solid"/>
            <a:round/>
          </a:ln>
        </p:spPr>
      </p:sp>
      <p:sp>
        <p:nvSpPr>
          <p:cNvPr id="253" name="椭圆"/>
          <p:cNvSpPr>
            <a:spLocks/>
          </p:cNvSpPr>
          <p:nvPr/>
        </p:nvSpPr>
        <p:spPr>
          <a:xfrm rot="0">
            <a:off x="10497312" y="510235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54" name="矩形"/>
          <p:cNvSpPr>
            <a:spLocks/>
          </p:cNvSpPr>
          <p:nvPr/>
        </p:nvSpPr>
        <p:spPr>
          <a:xfrm rot="0">
            <a:off x="10497312" y="510235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5" name="椭圆"/>
          <p:cNvSpPr>
            <a:spLocks/>
          </p:cNvSpPr>
          <p:nvPr/>
        </p:nvSpPr>
        <p:spPr>
          <a:xfrm rot="0">
            <a:off x="9857232" y="574243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56" name="矩形"/>
          <p:cNvSpPr>
            <a:spLocks/>
          </p:cNvSpPr>
          <p:nvPr/>
        </p:nvSpPr>
        <p:spPr>
          <a:xfrm rot="0">
            <a:off x="9857232" y="574243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7" name="椭圆"/>
          <p:cNvSpPr>
            <a:spLocks/>
          </p:cNvSpPr>
          <p:nvPr/>
        </p:nvSpPr>
        <p:spPr>
          <a:xfrm rot="0">
            <a:off x="11137393" y="574243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58" name="矩形"/>
          <p:cNvSpPr>
            <a:spLocks/>
          </p:cNvSpPr>
          <p:nvPr/>
        </p:nvSpPr>
        <p:spPr>
          <a:xfrm rot="0">
            <a:off x="11137393" y="574243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59" name="椭圆"/>
          <p:cNvSpPr>
            <a:spLocks/>
          </p:cNvSpPr>
          <p:nvPr/>
        </p:nvSpPr>
        <p:spPr>
          <a:xfrm rot="0">
            <a:off x="9491472" y="6336792"/>
            <a:ext cx="219455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60" name="矩形"/>
          <p:cNvSpPr>
            <a:spLocks/>
          </p:cNvSpPr>
          <p:nvPr/>
        </p:nvSpPr>
        <p:spPr>
          <a:xfrm rot="0">
            <a:off x="9491472" y="6336792"/>
            <a:ext cx="219455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1" name="椭圆"/>
          <p:cNvSpPr>
            <a:spLocks/>
          </p:cNvSpPr>
          <p:nvPr/>
        </p:nvSpPr>
        <p:spPr>
          <a:xfrm rot="0">
            <a:off x="10222992" y="633679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62" name="矩形"/>
          <p:cNvSpPr>
            <a:spLocks/>
          </p:cNvSpPr>
          <p:nvPr/>
        </p:nvSpPr>
        <p:spPr>
          <a:xfrm rot="0">
            <a:off x="10222992" y="633679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3" name="椭圆"/>
          <p:cNvSpPr>
            <a:spLocks/>
          </p:cNvSpPr>
          <p:nvPr/>
        </p:nvSpPr>
        <p:spPr>
          <a:xfrm rot="0">
            <a:off x="10771632" y="633679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64" name="矩形"/>
          <p:cNvSpPr>
            <a:spLocks/>
          </p:cNvSpPr>
          <p:nvPr/>
        </p:nvSpPr>
        <p:spPr>
          <a:xfrm rot="0">
            <a:off x="10771632" y="633679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5" name="椭圆"/>
          <p:cNvSpPr>
            <a:spLocks/>
          </p:cNvSpPr>
          <p:nvPr/>
        </p:nvSpPr>
        <p:spPr>
          <a:xfrm rot="0">
            <a:off x="11503152" y="6336792"/>
            <a:ext cx="219456" cy="219455"/>
          </a:xfrm>
          <a:prstGeom prst="ellipse"/>
          <a:solidFill>
            <a:srgbClr val="97BC62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66" name="矩形"/>
          <p:cNvSpPr>
            <a:spLocks/>
          </p:cNvSpPr>
          <p:nvPr/>
        </p:nvSpPr>
        <p:spPr>
          <a:xfrm rot="0">
            <a:off x="11503152" y="6336792"/>
            <a:ext cx="219456" cy="219455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69" name="圆角矩形"/>
          <p:cNvSpPr>
            <a:spLocks/>
          </p:cNvSpPr>
          <p:nvPr/>
        </p:nvSpPr>
        <p:spPr>
          <a:xfrm rot="0">
            <a:off x="822960" y="4206240"/>
            <a:ext cx="4206240" cy="1005839"/>
          </a:xfrm>
          <a:prstGeom prst="roundRect">
            <a:avLst>
              <a:gd name="adj" fmla="val 7273"/>
            </a:avLst>
          </a:prstGeom>
          <a:solidFill>
            <a:srgbClr val="24521F"/>
          </a:solidFill>
          <a:ln w="12700" cmpd="sng" cap="flat">
            <a:solidFill>
              <a:srgbClr val="97BC62"/>
            </a:solidFill>
            <a:prstDash val="solid"/>
            <a:round/>
          </a:ln>
        </p:spPr>
      </p:sp>
      <p:sp>
        <p:nvSpPr>
          <p:cNvPr id="270" name="矩形"/>
          <p:cNvSpPr>
            <a:spLocks/>
          </p:cNvSpPr>
          <p:nvPr/>
        </p:nvSpPr>
        <p:spPr>
          <a:xfrm rot="0">
            <a:off x="1051560" y="4343400"/>
            <a:ext cx="374904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K. Anil Kumar Reddy
</a:t>
            </a:r>
            <a:r>
              <a:rPr lang="en-US" altLang="zh-CN" sz="1250" b="0" i="0" u="none" strike="noStrike" kern="1200" cap="none" spc="0" baseline="0">
                <a:solidFill>
                  <a:srgbClr val="97BC62"/>
                </a:solidFill>
                <a:latin typeface="Calibri" pitchFamily="0" charset="0"/>
                <a:ea typeface="Calibri" pitchFamily="0" charset="0"/>
                <a:cs typeface="Calibri" pitchFamily="0" charset="0"/>
              </a:rPr>
              <a:t>Reg No: 192525249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1" name="矩形"/>
          <p:cNvSpPr>
            <a:spLocks/>
          </p:cNvSpPr>
          <p:nvPr/>
        </p:nvSpPr>
        <p:spPr>
          <a:xfrm rot="0">
            <a:off x="822960" y="5532120"/>
            <a:ext cx="45720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97BC6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Thank you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51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0</TotalTime>
  <Application>Yozo_Office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subject>PptxGenJS Presentation</dc:subject>
  <dc:creator>PptxGenJS</dc:creator>
  <cp:lastModifiedBy>root</cp:lastModifiedBy>
  <cp:revision>1</cp:revision>
  <dcterms:created xsi:type="dcterms:W3CDTF">2026-08-08T10:26:40Z</dcterms:created>
  <dcterms:modified xsi:type="dcterms:W3CDTF">2026-08-09T00:10:32Z</dcterms:modified>
</cp:coreProperties>
</file>